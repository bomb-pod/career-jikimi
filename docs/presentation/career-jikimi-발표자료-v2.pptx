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career-jikimi 입니다. 채팅방을 착각해 엉뚱한 방에 메시지를 보낸 경험, 다들 있으실 겁니다.
저희는 그 메시지가 전송되기 전에 대화 문맥을 읽고 경고하는 시스템을 만들었습니다.
오른쪽이 실제 동작입니다. 배포 이야기가 오가는 방에 "치킨 어때"를 치면 경고가 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서론에서 왜 만들었는지, 본론에서 어떻게 만들었는지 — 특히 AI 모델링을 중심으로, 결론에서 성과와 다음 계획을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세 번째입니다. 저희는 메시지를 막지 않습니다. 되묻기만 하고 최종 결정은 사용자가 합니다.
오른쪽이 이 프로젝트 전체를 관통하는 원칙입니다. 놓치는 것보다 잘못 경고하는 것이 훨씬 치명적입니다.
데이터셋 설계도, 임계값 선택도 전부 이 원칙을 따랐습니다.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시연 영상을 보시겠습니다. 배포 이야기가 오가는 방에 사담을 입력하면 경고가 뜨고, 일반적인 업무 메시지는 그냥 지나갑니다.
세 번째 기능이 이 프로젝트의 숨은 축입니다. 사용자가 "그래도 보내기"를 눌렀는지가 사실상의 정답 라벨이 되어, 쓰면 쓸수록 평가 데이터가 쌓이는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6일 일정입니다. 눈여겨보실 부분은 강조된 2~3단계입니다.
모델을 돌리기 전에 데이터부터 검증했고, 정답이 새고 있다는 걸 발견해 데이터셋을 처음부터 다시 만들었습니다. 그 이야기를 뒤에서 자세히 드리겠습니다.
(역할 분담 축은 실제 팀원 이름을 붙여 소개)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아키텍처는 단순합니다. nginx가 정적 파일을 서빙하고 API와 WebSocket을 FastAPI로 넘깁니다.
설명드릴 부분은 오른쪽입니다. 판정 백엔드를 인터페이스로 추상화해 환경변수 한 줄로 로컬 인코더와 GPT API를 바꿔 낄 수 있습니다.
덕분에 세 가지를 같은 조건에서 비교할 수 있었고, 최종적으로 로컬 인코더를 선택했습니다.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본론의 지도입니다. 다섯 단계 중 2단계가 관문입니다.
데이터가 정답을 흘리고 있으면 그 뒤의 학습·평가가 전부 무의미해지기 때문에, 여기서 한 번 전면 재작업을 했습니다.
이제 단계별로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선택의 출발점은 "이게 어떤 문제인가"였습니다.
필요한 건 문장 생성이 아니라 적절/부적절 둘 중 하나입니다. 그러면 디코더가 필요 없고, 인코더 분류기로 충분합니다.
두 번째가 결정적이었습니다. 채팅 내용을 외부 API로 보내는 서비스는 그 자체가 쓰기 꺼려지는 이유가 됩니다.
실제로 GPT API와 로컬 LLM도 붙여 비교했고, 성능이 충분해 로컬 인코더를 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저희 프로젝트에서 가장 자랑스러운 부분입니다.
먼저 100개를 직접 만들며 기준을 세웠는데, 검사해 보니 응답 문장만 보고도 93%를 맞힐 수 있었습니다. 문맥이 아니라 말투를 외우면 되는 데이터였던 겁니다. v1 500행은 99%까지 나왔습니다.
그래서 짝 구조로 다시 만들었습니다. 같은 응답이 어떤 방에서는 적절하고 어떤 방에서는 부적절하도록요. 그 결과 응답만 보는 성능이 정확히 찍기 수준 0.5로 내려갔습니다.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짝 구조를 예시 하나로 보여드립니다.
"오늘 저녁에 치킨 어때?" — 완전히 같은 문장입니다. 동기 단톡방에서는 일상적인 약속이고, 배포 채널에서는 사고입니다.
라벨이 문장이 아니라 문장과 방의 관계에 붙어 있기 때문에, 모델은 문맥을 읽지 않고는 점수를 낼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세팅입니다. 네 숫자 중 EPOCHS를 강조하고 싶습니다.
관례로 정한 게 아니라, 16 epoch까지 돌려 검증 loss가 최저를 찍고 다시 올라가는 지점을 찾아 4로 정했습니다.
오른쪽 분할 전략도 중요합니다. 저희 데이터는 같은 응답이 두 번 등장하는 짝 구조라, 짝을 통째로 묶지 않으면 답을 미리 본 셈이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평가를 네 개의 질문으로 나눴습니다.
성능이 나오는가, 그 성능이 문맥에서 나왔는가, 굳이 모델일 필요가 있었는가, 그리고 운영 임계값은 어디인가.
특히 Q2 절제 실험이 이 발표의 핵심 주장입니다. 다음 장에서 바로 보여드리겠습니다.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평가에서 가장 중요한 장입니다.
0.854라는 숫자만으로는 모델이 문맥을 읽었는지 응답의 말투를 외웠는지 알 수 없습니다.
그래서 응답은 그대로 두고 앞 대화만 바꿔 다시 쟀습니다. 0.854가 0.469로, 찍기 수준보다도 아래로 떨어졌습니다. 문맥이 없으면 이 모델은 아무것도 모릅니다. 이게 저희가 증명하고 싶었던 것입니다.
[내부 확인] 7/31 성능 보고서에는 OOF 0.832로 기록돼 있고 최종 노트북 재실행 값이 0.854 — 발표는 그래프 원본(노트북) 기준으로 통일. 질문이 나오면 "재실행 시드 차이, 그래프는 최종 노트북 출력 기준"으로 답변.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— 규칙 기반 대비 0.129 높습니다. 그리고 위쪽 두 TF-IDF가 찍기 수준 아래인 것이 데이터에 누출이 없다는 증거입니다.
오른쪽 — 임계값은 F1 최대점이 아니라 0.7입니다. F1은 놓침과 오탐을 같은 무게로 보는데, 저희는 오탐 비용이 훨씬 크기 때문입니다.
[시연 전 확인] .env에 ENCODER_THRESHOLD=0.7이 있어야 합니다. 없으면 threshold.json의 0.99가 적용돼 팝업이 거의 뜨지 않습니다. 기동 로그 "임계값 0.7"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먼저 말씀드립니다.
첫째, 평가셋이 100행이라 좋은 숫자가 과장돼 있을 수 있습니다. 그래서 난이도를 나눈 v4 200행을 이미 만들어 뒀고, 벤치마크가 다음 단계입니다.
둘째, 실제 오발송이 드물다면 경고의 상당수가 오탐일 수 있습니다. 이건 사용자 로그가 쌓여야 확정되고, 그래서 판정 로그 테이블을 첫날부터 만들어 뒀습니다.
셋째, 같은 방 안의 지시 위반은 설계 범위 밖입니다. 다만 그 범위 밖에서도 오탐이 0건 — 모르면 조용히 통과하는, 원칙에 맞는 실패 방식입니다.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성과를 네 숫자로 정리했습니다.
가장 의미 있는 건 두 번째, 절제 실험 하락폭입니다. 정확도는 데이터가 쉬우면 올라가지만, 이 값은 모델이 무엇을 보고 있는지를 말해줍니다.
네 번째도 강조하고 싶습니다. 채팅 내용이 서버 밖으로 한 건도 나가지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고도화 계획입니다. 순서가 곧 우선순위입니다.
1번이 최우선인 이유는, 지금 저희가 실사용 성능을 모르기 때문입니다. 평가셋에서 잘 나온다고 실제로 잘 되는 게 아닙니다.
그리고 그걸 알아내는 방법을 처음부터 설계에 넣어뒀습니다. 사용자가 경고를 무시하고 보냈는지 취소했는지가 정답 라벨이 됩니다.
2번 평가셋 v4는 데이터 구축까지 끝났고, 인코더 벤치마크가 다음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질문 받겠습니다.
예상 질문에 대한 답은 발표 스크립트 문서(docs/presentation/발표-스크립트.md)에 정리돼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불일치 메시지 사전 경고 시스템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7373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career-jikimi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85800" y="28803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채팅창을 착각해 잘못 보내는 메시지,</a:t>
            </a:r>
            <a:endParaRPr lang="en-US" sz="16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당신의 회사생활을 지켜드리겠습니다.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8580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career-jikimi 팀  ·  발표자 지환  ·  2026. 08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49440" y="640080"/>
            <a:ext cx="4572000" cy="55778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178040" y="86868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0F3F8"/>
          </a:solidFill>
          <a:ln/>
        </p:spPr>
      </p:sp>
      <p:sp>
        <p:nvSpPr>
          <p:cNvPr id="8" name="Text 6"/>
          <p:cNvSpPr/>
          <p:nvPr/>
        </p:nvSpPr>
        <p:spPr>
          <a:xfrm>
            <a:off x="7178040" y="868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 배포 채널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23760" y="1481328"/>
            <a:ext cx="2880360" cy="402336"/>
          </a:xfrm>
          <a:prstGeom prst="roundRect">
            <a:avLst>
              <a:gd name="adj" fmla="val 22727"/>
            </a:avLst>
          </a:prstGeom>
          <a:solidFill>
            <a:srgbClr val="EEF1F5"/>
          </a:solidFill>
          <a:ln/>
        </p:spPr>
      </p:sp>
      <p:sp>
        <p:nvSpPr>
          <p:cNvPr id="10" name="Text 8"/>
          <p:cNvSpPr/>
          <p:nvPr/>
        </p:nvSpPr>
        <p:spPr>
          <a:xfrm>
            <a:off x="7333488" y="1481328"/>
            <a:ext cx="2660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배포 리허설 몇 시로 할까요?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549640" y="1993392"/>
            <a:ext cx="2743200" cy="402336"/>
          </a:xfrm>
          <a:prstGeom prst="roundRect">
            <a:avLst>
              <a:gd name="adj" fmla="val 22727"/>
            </a:avLst>
          </a:prstGeom>
          <a:solidFill>
            <a:srgbClr val="D9EAE4"/>
          </a:solidFill>
          <a:ln/>
        </p:spPr>
      </p:sp>
      <p:sp>
        <p:nvSpPr>
          <p:cNvPr id="12" name="Text 10"/>
          <p:cNvSpPr/>
          <p:nvPr/>
        </p:nvSpPr>
        <p:spPr>
          <a:xfrm>
            <a:off x="8659368" y="199339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10시면 될 것 같습니다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23760" y="2505456"/>
            <a:ext cx="2697480" cy="402336"/>
          </a:xfrm>
          <a:prstGeom prst="roundRect">
            <a:avLst>
              <a:gd name="adj" fmla="val 22727"/>
            </a:avLst>
          </a:prstGeom>
          <a:solidFill>
            <a:srgbClr val="EEF1F5"/>
          </a:solidFill>
          <a:ln/>
        </p:spPr>
      </p:sp>
      <p:sp>
        <p:nvSpPr>
          <p:cNvPr id="14" name="Text 12"/>
          <p:cNvSpPr/>
          <p:nvPr/>
        </p:nvSpPr>
        <p:spPr>
          <a:xfrm>
            <a:off x="7333488" y="2505456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절차도 같이 봐주세요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0" y="3017520"/>
            <a:ext cx="2606040" cy="402336"/>
          </a:xfrm>
          <a:prstGeom prst="roundRect">
            <a:avLst>
              <a:gd name="adj" fmla="val 22727"/>
            </a:avLst>
          </a:prstGeom>
          <a:solidFill>
            <a:srgbClr val="FDF1EF"/>
          </a:solidFill>
          <a:ln w="15875">
            <a:solidFill>
              <a:srgbClr val="A838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96528" y="3017520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저녁에 치킨 어때?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60920" y="3886200"/>
            <a:ext cx="3749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1F2A5C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89520" y="4114800"/>
            <a:ext cx="347472" cy="347472"/>
          </a:xfrm>
          <a:prstGeom prst="ellipse">
            <a:avLst/>
          </a:prstGeom>
          <a:solidFill>
            <a:srgbClr val="A8382C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4101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2440" y="404164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방에 맞지 않는 것 같습니다.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보낼까요?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0" y="50749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EEF1F5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5074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26880" y="50749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A8382C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0" y="5074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보내기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93592" cy="4480560"/>
          </a:xfrm>
          <a:prstGeom prst="roundRect">
            <a:avLst>
              <a:gd name="adj" fmla="val 2545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D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서론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953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배경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 · 시연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 · 역할 분담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9704" y="1645920"/>
            <a:ext cx="3593592" cy="4480560"/>
          </a:xfrm>
          <a:prstGeom prst="roundRect">
            <a:avLst>
              <a:gd name="adj" fmla="val 2545"/>
            </a:avLst>
          </a:prstGeom>
          <a:solidFill>
            <a:srgbClr val="1F2A5C"/>
          </a:solidFill>
          <a:ln/>
        </p:spPr>
      </p:sp>
      <p:sp>
        <p:nvSpPr>
          <p:cNvPr id="9" name="Text 7"/>
          <p:cNvSpPr/>
          <p:nvPr/>
        </p:nvSpPr>
        <p:spPr>
          <a:xfrm>
            <a:off x="4809744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40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809744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본론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809744" y="3246120"/>
            <a:ext cx="2953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/ 기술스택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모델링 전체 흐름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어떤 모델을 왜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데이터 · 학습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평가 · 한계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39328" y="1645920"/>
            <a:ext cx="3593592" cy="4480560"/>
          </a:xfrm>
          <a:prstGeom prst="roundRect">
            <a:avLst>
              <a:gd name="adj" fmla="val 2545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8659368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D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659368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659368" y="3246120"/>
            <a:ext cx="2953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정리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 계획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서론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배경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보낸 메시지는 되돌릴 수 없습니다. 삭제해도 이미 읽힌 뒤입니다.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65376"/>
            <a:ext cx="384048" cy="384048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810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34440" y="206654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채팅방을 착각한 전송은 사회적 비용이 크다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234440" y="243230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업무방에 사담, 단체방에 개인 메시지 — 한 번이면 충분히 곤란합니다.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46704"/>
            <a:ext cx="384048" cy="384048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329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32918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대안의 한계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34440" y="354787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취소도, 상시 확인 팝업도 답이 아니다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234440" y="391363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시간 제한이 있고 이미 읽혔으면 소용없습니다. 매번 뜨는 팝업은 곧 무시되어 경고의 가치가 사라집니다.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828032"/>
            <a:ext cx="384048" cy="384048"/>
          </a:xfrm>
          <a:prstGeom prst="ellipse">
            <a:avLst/>
          </a:prstGeom>
          <a:solidFill>
            <a:srgbClr val="2A7A6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143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접근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34440" y="50292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맞지 않을 때만, 묻기만 한다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234440" y="5394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문맥을 읽어 이 방에 맞지 않을 때만 경고합니다. 시스템은 막지 않고 되묻기만 하며, 판단은 사용자가 합니다.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35240" y="1783080"/>
            <a:ext cx="3913632" cy="4434840"/>
          </a:xfrm>
          <a:prstGeom prst="roundRect">
            <a:avLst>
              <a:gd name="adj" fmla="val 2336"/>
            </a:avLst>
          </a:prstGeom>
          <a:solidFill>
            <a:srgbClr val="1F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0" y="242316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1건이</a:t>
            </a:r>
            <a:endParaRPr lang="en-US" sz="24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전체를 죽인다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955280" y="3794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멀쩡한 메시지에 경고가 반복되면 사용자는 팝업을 끄고, 기능은 존재하지 않는 것이 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5120640"/>
            <a:ext cx="3273552" cy="685800"/>
          </a:xfrm>
          <a:prstGeom prst="roundRect">
            <a:avLst>
              <a:gd name="adj" fmla="val 12000"/>
            </a:avLst>
          </a:prstGeom>
          <a:solidFill>
            <a:srgbClr val="32407F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512064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보다 precision 을 우선 지표로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서론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채팅 위에 전송 전 판정을 얹었습니다.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92808"/>
            <a:ext cx="384048" cy="384048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90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8745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채팅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234440" y="225856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연결 1개로 여러 방을 멀티플렉싱합니다.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355848"/>
            <a:ext cx="384048" cy="384048"/>
          </a:xfrm>
          <a:prstGeom prst="ellipse">
            <a:avLst/>
          </a:prstGeom>
          <a:solidFill>
            <a:srgbClr val="2A7A6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421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3375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전 문맥 판정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234440" y="372160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대화 10개와 보낼 문장을 함께 읽어 판정합니다. 부적절하면 저장하지 않고 되묻습니다.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818888"/>
            <a:ext cx="384048" cy="384048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051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80060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선택의 기록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234440" y="518464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후 강행했는지 취소했는지를 남깁니다. 그 선택이 사실상의 정답 라벨 — 다음 평가 데이터가 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03720" y="1783080"/>
            <a:ext cx="4645152" cy="4434840"/>
          </a:xfrm>
          <a:prstGeom prst="roundRect">
            <a:avLst>
              <a:gd name="adj" fmla="val 2062"/>
            </a:avLst>
          </a:prstGeom>
          <a:solidFill>
            <a:srgbClr val="1B2337"/>
          </a:solidFill>
          <a:ln/>
        </p:spPr>
      </p:sp>
      <p:sp>
        <p:nvSpPr>
          <p:cNvPr id="18" name="Shape 16"/>
          <p:cNvSpPr/>
          <p:nvPr/>
        </p:nvSpPr>
        <p:spPr>
          <a:xfrm>
            <a:off x="8814816" y="3063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814816" y="30449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영상 · 20초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5257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배포방에 사담 입력 → 경고 팝업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업무 메시지 → 그대로 통과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서론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 · 역할 분담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6일. 절반을 데이터에 썼습니다.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709928" cy="2286000"/>
          </a:xfrm>
          <a:prstGeom prst="roundRect">
            <a:avLst>
              <a:gd name="adj" fmla="val 4278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929384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7/29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" y="2203704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요구사항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2752344"/>
            <a:ext cx="1435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AI-DLC 워크플로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· ADR 8건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78024" y="1783080"/>
            <a:ext cx="1709928" cy="2286000"/>
          </a:xfrm>
          <a:prstGeom prst="roundRect">
            <a:avLst>
              <a:gd name="adj" fmla="val 4278"/>
            </a:avLst>
          </a:prstGeom>
          <a:solidFill>
            <a:srgbClr val="FBF2E4"/>
          </a:solidFill>
          <a:ln/>
        </p:spPr>
      </p:sp>
      <p:sp>
        <p:nvSpPr>
          <p:cNvPr id="10" name="Text 8"/>
          <p:cNvSpPr/>
          <p:nvPr/>
        </p:nvSpPr>
        <p:spPr>
          <a:xfrm>
            <a:off x="2624328" y="1929384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7/29 ~ 30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24328" y="2203704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진단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24328" y="2752344"/>
            <a:ext cx="1435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v1 500행 누출 발견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기준 확립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15968" y="1783080"/>
            <a:ext cx="1709928" cy="2286000"/>
          </a:xfrm>
          <a:prstGeom prst="roundRect">
            <a:avLst>
              <a:gd name="adj" fmla="val 4278"/>
            </a:avLst>
          </a:prstGeom>
          <a:solidFill>
            <a:srgbClr val="FBF2E4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1929384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7/30 ~ 31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62272" y="2203704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재조립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62272" y="2752344"/>
            <a:ext cx="1435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구조 설계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 1,000행 완성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53912" y="1783080"/>
            <a:ext cx="1709928" cy="2286000"/>
          </a:xfrm>
          <a:prstGeom prst="roundRect">
            <a:avLst>
              <a:gd name="adj" fmla="val 4278"/>
            </a:avLst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1929384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7/31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0216" y="2203704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 · 평가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0216" y="2752344"/>
            <a:ext cx="1435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A.X-Encoder 파인튜닝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교차검증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91856" y="1783080"/>
            <a:ext cx="1709928" cy="2286000"/>
          </a:xfrm>
          <a:prstGeom prst="roundRect">
            <a:avLst>
              <a:gd name="adj" fmla="val 4278"/>
            </a:avLst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1929384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 ~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38160" y="2203704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웹앱 통합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38160" y="2752344"/>
            <a:ext cx="1435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백엔드 3종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355건 통과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829800" y="1783080"/>
            <a:ext cx="1709928" cy="2286000"/>
          </a:xfrm>
          <a:prstGeom prst="roundRect">
            <a:avLst>
              <a:gd name="adj" fmla="val 4278"/>
            </a:avLst>
          </a:prstGeom>
          <a:solidFill>
            <a:srgbClr val="F5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9976104" y="1929384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976104" y="2203704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 · 인프라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76104" y="2752344"/>
            <a:ext cx="1435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테스트셋 v4 200행 구축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 분리 구성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4434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6일 중 3일을 데이터에 썼습니다.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40080" y="4846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데이터셋이 정답을 흘리고 있음을 학습 전에 발견해, 처음부터 다시 만들었습니다.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프로젝트에서 가장 중요한 결정이었습니다.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75120" y="4434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 — 4개 작업 축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675120" y="4846320"/>
            <a:ext cx="2359152" cy="685800"/>
          </a:xfrm>
          <a:prstGeom prst="roundRect">
            <a:avLst>
              <a:gd name="adj" fmla="val 10667"/>
            </a:avLst>
          </a:prstGeom>
          <a:solidFill>
            <a:srgbClr val="F5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49286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모델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12280" y="51937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v1~v4 · 파인튜닝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162288" y="4846320"/>
            <a:ext cx="2359152" cy="685800"/>
          </a:xfrm>
          <a:prstGeom prst="roundRect">
            <a:avLst>
              <a:gd name="adj" fmla="val 10667"/>
            </a:avLst>
          </a:prstGeom>
          <a:solidFill>
            <a:srgbClr val="F5F7FA"/>
          </a:solidFill>
          <a:ln/>
        </p:spPr>
      </p:sp>
      <p:sp>
        <p:nvSpPr>
          <p:cNvPr id="36" name="Text 34"/>
          <p:cNvSpPr/>
          <p:nvPr/>
        </p:nvSpPr>
        <p:spPr>
          <a:xfrm>
            <a:off x="9299448" y="49286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299448" y="51937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판정 파이프라인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75120" y="5623560"/>
            <a:ext cx="2359152" cy="685800"/>
          </a:xfrm>
          <a:prstGeom prst="roundRect">
            <a:avLst>
              <a:gd name="adj" fmla="val 10667"/>
            </a:avLst>
          </a:prstGeom>
          <a:solidFill>
            <a:srgbClr val="F5F7FA"/>
          </a:solidFill>
          <a:ln/>
        </p:spPr>
      </p:sp>
      <p:sp>
        <p:nvSpPr>
          <p:cNvPr id="39" name="Text 37"/>
          <p:cNvSpPr/>
          <p:nvPr/>
        </p:nvSpPr>
        <p:spPr>
          <a:xfrm>
            <a:off x="6812280" y="57058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812280" y="5971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채팅 UI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162288" y="5623560"/>
            <a:ext cx="2359152" cy="685800"/>
          </a:xfrm>
          <a:prstGeom prst="roundRect">
            <a:avLst>
              <a:gd name="adj" fmla="val 10667"/>
            </a:avLst>
          </a:prstGeom>
          <a:solidFill>
            <a:srgbClr val="F5F7FA"/>
          </a:solidFill>
          <a:ln/>
        </p:spPr>
      </p:sp>
      <p:sp>
        <p:nvSpPr>
          <p:cNvPr id="42" name="Text 40"/>
          <p:cNvSpPr/>
          <p:nvPr/>
        </p:nvSpPr>
        <p:spPr>
          <a:xfrm>
            <a:off x="9299448" y="57058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· 문서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299448" y="5971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· nginx · 문서화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/ 기술스택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3개. 판정 백엔드는 환경변수 한 줄로 교체됩니다.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0280" y="187452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· nginx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23317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+ 프록시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69080" y="187452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1F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· FastAPI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60520" y="23317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judgment 모듈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87452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MariaDB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3317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InnoDB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utf8mb4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01952" y="2441448"/>
            <a:ext cx="338328" cy="0"/>
          </a:xfrm>
          <a:prstGeom prst="line">
            <a:avLst/>
          </a:prstGeom>
          <a:noFill/>
          <a:ln w="22225">
            <a:solidFill>
              <a:srgbClr val="9AA4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30752" y="2441448"/>
            <a:ext cx="338328" cy="0"/>
          </a:xfrm>
          <a:prstGeom prst="line">
            <a:avLst/>
          </a:prstGeom>
          <a:noFill/>
          <a:ln w="22225">
            <a:solidFill>
              <a:srgbClr val="9AA4B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96712" y="2441448"/>
            <a:ext cx="338328" cy="0"/>
          </a:xfrm>
          <a:prstGeom prst="line">
            <a:avLst/>
          </a:prstGeom>
          <a:noFill/>
          <a:ln w="22225">
            <a:solidFill>
              <a:srgbClr val="9AA4B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40080" y="32004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judgment 모듈이 app 안에서 판정을 수행 — 대화가 컨테이너 밖으로 나가지 않습니다.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34930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구성 compose.nginx.yml — FastAPI가 정적까지 서빙하는 기본 구성과 병행 운용 (DB 볼륨 공유)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35240" y="1783080"/>
            <a:ext cx="3913632" cy="2011680"/>
          </a:xfrm>
          <a:prstGeom prst="roundRect">
            <a:avLst>
              <a:gd name="adj" fmla="val 4091"/>
            </a:avLst>
          </a:prstGeom>
          <a:solidFill>
            <a:srgbClr val="F5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1901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백엔드 — .env 한 줄로 교체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240280"/>
            <a:ext cx="3566160" cy="420624"/>
          </a:xfrm>
          <a:prstGeom prst="roundRect">
            <a:avLst>
              <a:gd name="adj" fmla="val 15217"/>
            </a:avLst>
          </a:prstGeom>
          <a:solidFill>
            <a:srgbClr val="E9F3EF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224028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</a:t>
            </a:r>
            <a:pPr indent="0" marL="0">
              <a:buNone/>
            </a:pPr>
            <a:r>
              <a:rPr lang="en-US" sz="95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← 현재  </a:t>
            </a:r>
            <a:pPr indent="0" marL="0"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 · 외부 전송 없음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18120" y="2743200"/>
            <a:ext cx="356616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27432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</a:t>
            </a:r>
            <a:pPr indent="0" marL="0">
              <a:buNone/>
            </a:pPr>
            <a:r>
              <a:rPr lang="en-US" sz="95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pPr indent="0" marL="0"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 API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18120" y="3246120"/>
            <a:ext cx="356616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324612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</a:t>
            </a:r>
            <a:pPr indent="0" marL="0">
              <a:buNone/>
            </a:pPr>
            <a:r>
              <a:rPr lang="en-US" sz="95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pPr indent="0" marL="0"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LLM (Qwen 등)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06908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421538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86384" y="45720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 · TS 5.7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6 · Zustand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52928" y="406908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99232" y="421538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999232" y="45720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WebSocket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SQLAlchemy · Alembic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65776" y="406908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421538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212080" y="45720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(InnoDB)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utf8mb4 명시 지정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78624" y="406908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928" y="421538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판정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424928" y="45720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A.X-Encoder 파인튜닝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 (CPU 추론)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491472" y="406908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37776" y="421538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· 시험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637776" y="45720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Compose · nginx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355 · Vitest 147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모델링 전체 흐름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 — 그중 2단계 "데이터 관문"에서 한 번 전면 재작업했습니다.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920240" cy="251460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86000"/>
            <a:ext cx="384048" cy="384048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722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85292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347472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오발송만 다룬다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우선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78608" y="3108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80360" y="2103120"/>
            <a:ext cx="1920240" cy="2514600"/>
          </a:xfrm>
          <a:prstGeom prst="roundRect">
            <a:avLst>
              <a:gd name="adj" fmla="val 4286"/>
            </a:avLst>
          </a:prstGeom>
          <a:solidFill>
            <a:srgbClr val="FBF2E4"/>
          </a:solidFill>
          <a:ln/>
        </p:spPr>
      </p:sp>
      <p:sp>
        <p:nvSpPr>
          <p:cNvPr id="12" name="Shape 10"/>
          <p:cNvSpPr/>
          <p:nvPr/>
        </p:nvSpPr>
        <p:spPr>
          <a:xfrm>
            <a:off x="3063240" y="2286000"/>
            <a:ext cx="384048" cy="384048"/>
          </a:xfrm>
          <a:prstGeom prst="ellipse">
            <a:avLst/>
          </a:prstGeom>
          <a:solidFill>
            <a:srgbClr val="A8382C"/>
          </a:solidFill>
          <a:ln/>
        </p:spPr>
      </p:sp>
      <p:sp>
        <p:nvSpPr>
          <p:cNvPr id="13" name="Text 11"/>
          <p:cNvSpPr/>
          <p:nvPr/>
        </p:nvSpPr>
        <p:spPr>
          <a:xfrm>
            <a:off x="3063240" y="22722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23360" y="2304288"/>
            <a:ext cx="621792" cy="329184"/>
          </a:xfrm>
          <a:prstGeom prst="roundRect">
            <a:avLst>
              <a:gd name="adj" fmla="val 16667"/>
            </a:avLst>
          </a:prstGeom>
          <a:solidFill>
            <a:srgbClr val="A8382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2304288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44952" y="285292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44952" y="347472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누출 검사를 학습 전에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폐기 → 전면 재제작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8888" y="3108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20640" y="2103120"/>
            <a:ext cx="1920240" cy="251460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2286000"/>
            <a:ext cx="384048" cy="384048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22722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85232" y="285292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선택 · 학습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85232" y="347472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인코더 이진 분류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교차검증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59168" y="3108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60920" y="2103120"/>
            <a:ext cx="1920240" cy="251460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7543800" y="2286000"/>
            <a:ext cx="384048" cy="384048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0" y="22722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25512" y="285292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525512" y="347472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절제 · 기준선 · 스윕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"문맥을 읽었나"까지 증명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99448" y="3108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601200" y="2103120"/>
            <a:ext cx="1920240" cy="251460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/>
        </p:spPr>
      </p:sp>
      <p:sp>
        <p:nvSpPr>
          <p:cNvPr id="32" name="Shape 30"/>
          <p:cNvSpPr/>
          <p:nvPr/>
        </p:nvSpPr>
        <p:spPr>
          <a:xfrm>
            <a:off x="9784080" y="2286000"/>
            <a:ext cx="384048" cy="384048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33" name="Text 31"/>
          <p:cNvSpPr/>
          <p:nvPr/>
        </p:nvSpPr>
        <p:spPr>
          <a:xfrm>
            <a:off x="9784080" y="22722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765792" y="285292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연결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765792" y="347472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0.7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로그로 실사용 측정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순서가 곧 주장입니다 — 모델을 돌리기 전에 데이터부터 의심했습니다.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0080" y="5532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관문을 통과하지 못한 데이터셋(v1 500행)은 학습에 쓰지 않고 폐기했습니다.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모델을 왜 골랐나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문제가 아니라 이진 분류 문제였습니다.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333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생성이 아니라 분류다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21284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출력은 적절/부적절 하나. 문장을 만들 필요가 없으니 디코더가 필요 없습니다.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328416"/>
            <a:ext cx="384048" cy="384048"/>
          </a:xfrm>
          <a:prstGeom prst="ellipse">
            <a:avLst/>
          </a:prstGeom>
          <a:solidFill>
            <a:srgbClr val="2A7A6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147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31012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대화가 밖으로 나가지 않는다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69417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전량 로컬 처리. 채팅을 외부 API로 보내지 않는 것 자체가 이 서비스의 기능 요건입니다.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809744"/>
            <a:ext cx="384048" cy="384048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960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79145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빠르고 공짜다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5175504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요청 p50 538ms — 타임아웃 예산 4초에 여유. 호출 비용이 없어 판정을 아끼지 않아도 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20840" y="1783080"/>
            <a:ext cx="4828032" cy="1783080"/>
          </a:xfrm>
          <a:prstGeom prst="roundRect">
            <a:avLst>
              <a:gd name="adj" fmla="val 4615"/>
            </a:avLst>
          </a:prstGeom>
          <a:solidFill>
            <a:srgbClr val="1F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9659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skt / A.X-Encoder-base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23408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ModernBERT 계열 인코더 · Apache-2.0 · cross-encoder 이진 분류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95160" y="2743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1억</a:t>
            </a:r>
            <a:pPr indent="0" marL="0">
              <a:buNone/>
            </a:pPr>
            <a:r>
              <a:rPr lang="en-US" sz="1050" dirty="0">
                <a:solidFill>
                  <a:srgbClr val="8FA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모델 크기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299 MB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20840" y="3749040"/>
            <a:ext cx="4828032" cy="246888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38953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가지를 같은 조건에서 비교했습니다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4279392"/>
            <a:ext cx="43891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4279392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49640" y="42793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좋음 · 대화가 외부로 나감 · 비용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49440" y="4901184"/>
            <a:ext cx="43891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4901184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LLM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49640" y="490118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 없음 · 무겁고 느림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49440" y="5522976"/>
            <a:ext cx="4389120" cy="530352"/>
          </a:xfrm>
          <a:prstGeom prst="roundRect">
            <a:avLst>
              <a:gd name="adj" fmla="val 12069"/>
            </a:avLst>
          </a:prstGeom>
          <a:solidFill>
            <a:srgbClr val="E9F3EF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552297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인코더 (채택)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49640" y="552297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 없음 · 299MB · 538ms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데이터를 어떻게 만들었나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학습을 시작하기 전에, 데이터가 정답을 흘리고 있는지부터 확인했습니다.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8ECE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47672"/>
            <a:ext cx="365760" cy="365760"/>
          </a:xfrm>
          <a:prstGeom prst="ellipse">
            <a:avLst/>
          </a:prstGeom>
          <a:solidFill>
            <a:srgbClr val="A8382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33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100행 직접 제작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157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팀이 직접 만들고 눈으로 보며 적절 · 부적절의 기준을 세웠다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38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응답만 보고 정답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18688" y="27432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10712" y="178308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8ECEA"/>
          </a:solidFill>
          <a:ln/>
        </p:spPr>
      </p:sp>
      <p:sp>
        <p:nvSpPr>
          <p:cNvPr id="14" name="Shape 12"/>
          <p:cNvSpPr/>
          <p:nvPr/>
        </p:nvSpPr>
        <p:spPr>
          <a:xfrm>
            <a:off x="3593592" y="1947672"/>
            <a:ext cx="365760" cy="365760"/>
          </a:xfrm>
          <a:prstGeom prst="ellipse">
            <a:avLst/>
          </a:prstGeom>
          <a:solidFill>
            <a:srgbClr val="A8382C"/>
          </a:solidFill>
          <a:ln/>
        </p:spPr>
      </p:sp>
      <p:sp>
        <p:nvSpPr>
          <p:cNvPr id="15" name="Text 13"/>
          <p:cNvSpPr/>
          <p:nvPr/>
        </p:nvSpPr>
        <p:spPr>
          <a:xfrm>
            <a:off x="3593592" y="1933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93592" y="2404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누출 진단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93592" y="27157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문장만으로 라벨을 맞힐 수 있는지 기계적으로 검사했다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93592" y="3474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38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0.99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593592" y="38862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v1 500행 — 정답이 표면에 유출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89320" y="27432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81344" y="178308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E9F3EF"/>
          </a:solidFill>
          <a:ln/>
        </p:spPr>
      </p:sp>
      <p:sp>
        <p:nvSpPr>
          <p:cNvPr id="22" name="Shape 20"/>
          <p:cNvSpPr/>
          <p:nvPr/>
        </p:nvSpPr>
        <p:spPr>
          <a:xfrm>
            <a:off x="6364224" y="1947672"/>
            <a:ext cx="365760" cy="365760"/>
          </a:xfrm>
          <a:prstGeom prst="ellipse">
            <a:avLst/>
          </a:prstGeom>
          <a:solidFill>
            <a:srgbClr val="2A7A66"/>
          </a:solidFill>
          <a:ln/>
        </p:spPr>
      </p:sp>
      <p:sp>
        <p:nvSpPr>
          <p:cNvPr id="23" name="Text 21"/>
          <p:cNvSpPr/>
          <p:nvPr/>
        </p:nvSpPr>
        <p:spPr>
          <a:xfrm>
            <a:off x="6364224" y="1933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64224" y="2404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구조로 재조립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64224" y="27157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응답을 적절 · 부적절 양쪽에 정확히 한 번씩 배치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64224" y="3474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364224" y="38862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찍기 수준으로 차단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59952" y="27432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951976" y="178308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E9F3EF"/>
          </a:solidFill>
          <a:ln/>
        </p:spPr>
      </p:sp>
      <p:sp>
        <p:nvSpPr>
          <p:cNvPr id="30" name="Shape 28"/>
          <p:cNvSpPr/>
          <p:nvPr/>
        </p:nvSpPr>
        <p:spPr>
          <a:xfrm>
            <a:off x="9134856" y="1947672"/>
            <a:ext cx="365760" cy="365760"/>
          </a:xfrm>
          <a:prstGeom prst="ellipse">
            <a:avLst/>
          </a:prstGeom>
          <a:solidFill>
            <a:srgbClr val="2A7A66"/>
          </a:solidFill>
          <a:ln/>
        </p:spPr>
      </p:sp>
      <p:sp>
        <p:nvSpPr>
          <p:cNvPr id="31" name="Text 29"/>
          <p:cNvSpPr/>
          <p:nvPr/>
        </p:nvSpPr>
        <p:spPr>
          <a:xfrm>
            <a:off x="9134856" y="1933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34856" y="2404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 1,000행 확정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34856" y="27157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1,000행 + 평가 100행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· 평가 중복 0건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134856" y="3474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134856" y="38862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전 항목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0080" y="4434840"/>
            <a:ext cx="6629400" cy="1737360"/>
          </a:xfrm>
          <a:prstGeom prst="roundRect">
            <a:avLst>
              <a:gd name="adj" fmla="val 4737"/>
            </a:avLst>
          </a:prstGeom>
          <a:solidFill>
            <a:srgbClr val="1F2A5C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6177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아이디어 — 짝 구조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14400" y="4956048"/>
            <a:ext cx="6080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 응답 500개 전원이 적절과 부적절 양쪽에 한 번씩 등장합니다.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응답만 보고는 원리적으로 맞힐 수 없습니다 — 여기서 성능이 나오면 그건 문맥을 읽었다는 뜻입니다.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498080" y="4434840"/>
            <a:ext cx="4050792" cy="173736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/>
        </p:spPr>
      </p:sp>
      <p:sp>
        <p:nvSpPr>
          <p:cNvPr id="40" name="Text 38"/>
          <p:cNvSpPr/>
          <p:nvPr/>
        </p:nvSpPr>
        <p:spPr>
          <a:xfrm>
            <a:off x="7726680" y="4572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누출 검사 (v3 최종)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26680" y="49194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response-only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509760" y="49194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561320" y="491947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26680" y="5303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history-only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509760" y="53035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561320" y="53035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726680" y="56875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셔플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509760" y="568756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0.498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561320" y="568756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구조 — 같은 문장, 다른 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문장이 한 방에서는 일상이고, 다른 방에서는 사고입니다.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5875">
            <a:solidFill>
              <a:srgbClr val="E2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4892040" cy="420624"/>
          </a:xfrm>
          <a:prstGeom prst="roundRect">
            <a:avLst>
              <a:gd name="adj" fmla="val 15217"/>
            </a:avLst>
          </a:prstGeom>
          <a:solidFill>
            <a:srgbClr val="F0F3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 동기 단톡방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4069080" cy="402336"/>
          </a:xfrm>
          <a:prstGeom prst="roundRect">
            <a:avLst>
              <a:gd name="adj" fmla="val 22727"/>
            </a:avLst>
          </a:prstGeom>
          <a:solidFill>
            <a:srgbClr val="EEF1F5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2606040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드디어 끝났다!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3118104"/>
            <a:ext cx="4069080" cy="402336"/>
          </a:xfrm>
          <a:prstGeom prst="roundRect">
            <a:avLst>
              <a:gd name="adj" fmla="val 22727"/>
            </a:avLst>
          </a:prstGeom>
          <a:solidFill>
            <a:srgbClr val="EEF1F5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118104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다들 오늘 저녁 시간 돼?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508760" y="3703320"/>
            <a:ext cx="4160520" cy="402336"/>
          </a:xfrm>
          <a:prstGeom prst="roundRect">
            <a:avLst>
              <a:gd name="adj" fmla="val 22727"/>
            </a:avLst>
          </a:prstGeom>
          <a:solidFill>
            <a:srgbClr val="FDF6EC"/>
          </a:solidFill>
          <a:ln w="15875">
            <a:solidFill>
              <a:srgbClr val="B471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18488" y="3703320"/>
            <a:ext cx="3941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저녁에 치킨 어때?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E9F3EF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590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4983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그대로 전송됩니다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65392" y="1828800"/>
            <a:ext cx="49834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5875">
            <a:solidFill>
              <a:srgbClr val="E2E7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48272" y="2011680"/>
            <a:ext cx="4617720" cy="420624"/>
          </a:xfrm>
          <a:prstGeom prst="roundRect">
            <a:avLst>
              <a:gd name="adj" fmla="val 15217"/>
            </a:avLst>
          </a:prstGeom>
          <a:solidFill>
            <a:srgbClr val="F0F3F8"/>
          </a:solidFill>
          <a:ln/>
        </p:spPr>
      </p:sp>
      <p:sp>
        <p:nvSpPr>
          <p:cNvPr id="19" name="Text 17"/>
          <p:cNvSpPr/>
          <p:nvPr/>
        </p:nvSpPr>
        <p:spPr>
          <a:xfrm>
            <a:off x="6748272" y="2011680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 배포 채널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93992" y="2606040"/>
            <a:ext cx="3794760" cy="402336"/>
          </a:xfrm>
          <a:prstGeom prst="roundRect">
            <a:avLst>
              <a:gd name="adj" fmla="val 22727"/>
            </a:avLst>
          </a:prstGeom>
          <a:solidFill>
            <a:srgbClr val="EEF1F5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606040"/>
            <a:ext cx="3575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배포 리허설 몇 시로 할까요?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93992" y="3118104"/>
            <a:ext cx="3794760" cy="402336"/>
          </a:xfrm>
          <a:prstGeom prst="roundRect">
            <a:avLst>
              <a:gd name="adj" fmla="val 22727"/>
            </a:avLst>
          </a:prstGeom>
          <a:solidFill>
            <a:srgbClr val="EEF1F5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3118104"/>
            <a:ext cx="3575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절차도 같이 봐주세요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34072" y="3703320"/>
            <a:ext cx="3886200" cy="402336"/>
          </a:xfrm>
          <a:prstGeom prst="roundRect">
            <a:avLst>
              <a:gd name="adj" fmla="val 22727"/>
            </a:avLst>
          </a:prstGeom>
          <a:solidFill>
            <a:srgbClr val="FDF6EC"/>
          </a:solidFill>
          <a:ln w="15875">
            <a:solidFill>
              <a:srgbClr val="B471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3703320"/>
            <a:ext cx="3666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저녁에 치킨 어때?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48272" y="443484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F8ECEA"/>
          </a:solidFill>
          <a:ln/>
        </p:spPr>
      </p:sp>
      <p:sp>
        <p:nvSpPr>
          <p:cNvPr id="27" name="Text 25"/>
          <p:cNvSpPr/>
          <p:nvPr/>
        </p:nvSpPr>
        <p:spPr>
          <a:xfrm>
            <a:off x="6976872" y="4590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8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부적절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76872" y="4983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경고 팝업이 뜹니다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70448" y="3520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640080" y="594360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E9F3E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9436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데이터의 고유 응답 500개 전원이 이렇게 양쪽 라벨로 등장 </a:t>
            </a:r>
            <a:pPr indent="0" marL="0">
              <a:buNone/>
            </a:pPr>
            <a:r>
              <a:rPr lang="en-US" sz="115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 응답만 보는 모델은 정확히 0.500. 그 이상의 성능은 문맥을 읽었다는 증거입니다.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세팅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T4 · 5-fold 교차검증 · 총 학습 5회 · 약 23분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MAX_LEN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20370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384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22960" y="28254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토큰 최대 117 — 전량 수용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178308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19293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93592" y="220370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93592" y="28254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 메모리 기준 현실적 상한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1344" y="178308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364224" y="19293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64224" y="220370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5e-5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64224" y="28254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파인튜닝 표준 범위 상단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51976" y="178308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FBF2E4"/>
          </a:solidFill>
          <a:ln/>
        </p:spPr>
      </p:sp>
      <p:sp>
        <p:nvSpPr>
          <p:cNvPr id="18" name="Text 16"/>
          <p:cNvSpPr/>
          <p:nvPr/>
        </p:nvSpPr>
        <p:spPr>
          <a:xfrm>
            <a:off x="9134856" y="19293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EPOCHS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34856" y="220370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134856" y="28254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epoch 계측 → 검증 loss 최저점에서 결정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3703320"/>
            <a:ext cx="5349240" cy="246888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38587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 · Optimizer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6112" y="4224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31720" y="42245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CrossEntropyLoss — 이진 분류 (num_labels = 2)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96112" y="4681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Optimizer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31720" y="4681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AdamW · weight_decay 0.01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6112" y="51389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31720" y="5138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 + warmup 10%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96112" y="5596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 clip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31720" y="5596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99632" y="3703320"/>
            <a:ext cx="5349240" cy="2468880"/>
          </a:xfrm>
          <a:prstGeom prst="roundRect">
            <a:avLst>
              <a:gd name="adj" fmla="val 3333"/>
            </a:avLst>
          </a:prstGeom>
          <a:solidFill>
            <a:srgbClr val="1F2A5C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38587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전략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73952" y="422452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StratifiedGroupKFold(5) · 그룹 = pair_id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73952" y="46177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짝이 학습과 검증에 갈라지지 않게 묶었습니다.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짝의 반쪽을 본 모델이 나머지 반쪽을 맞히면 점수가 부풀려지기 때문입니다.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어떻게 쟀나 — 평가 4종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숫자 하나로는 "문맥을 읽었다"를 증명할 수 없습니다. 질문 넷으로 나눠 쟀습니다.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58384" cy="2084832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84248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1F2A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8424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72768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성능이 나오는가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96112" y="24963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교차검증 OOF 정확도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4904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017520" y="3264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찍기 수준 0.5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90488" y="1783080"/>
            <a:ext cx="5358384" cy="2084832"/>
          </a:xfrm>
          <a:prstGeom prst="roundRect">
            <a:avLst>
              <a:gd name="adj" fmla="val 3947"/>
            </a:avLst>
          </a:prstGeom>
          <a:solidFill>
            <a:srgbClr val="1F2A5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19088" y="1984248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B4711E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088" y="198424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23176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문맥을 읽었는가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46520" y="24963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절제 실험 — 문맥 교체 · 삭제 후 재판정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99448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D9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−0.385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67928" y="3264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찍기 수준 아래로 무너짐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5358384" cy="2084832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224528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1F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2452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기여했는가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96112" y="47365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TF-IDF · 규칙 기반과 같은 데이터에서 대조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49040" y="4800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+0.129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017520" y="55046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기반(0.725) 대비 우위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90488" y="4023360"/>
            <a:ext cx="5358384" cy="2084832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19088" y="4224528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1F2A5C"/>
          </a:solidFill>
          <a:ln/>
        </p:spPr>
      </p:sp>
      <p:sp>
        <p:nvSpPr>
          <p:cNvPr id="28" name="Text 26"/>
          <p:cNvSpPr/>
          <p:nvPr/>
        </p:nvSpPr>
        <p:spPr>
          <a:xfrm>
            <a:off x="6419088" y="422452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23176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운영값은 어디인가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446520" y="47365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 스윕 — precision/recall/팝업률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299448" y="4800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 채택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567928" y="55046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 최대점 대신 precision 우선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" y="62636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 · Q3 · Q4 를 다음 세 장에서 하나씩 보입니다. Q2가 이 발표의 핵심입니다.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절제 실험 — 문맥을 빼고 다시 쟀습니다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보낼 메시지는 그대로 두고, 앞 대화만 바꿔치기하거나 지웠습니다.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3093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5875">
            <a:solidFill>
              <a:srgbClr val="E2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38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교차검증 OOF 정확도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80560" y="1938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= 0.5 (찍기 수준)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25880" y="4229100"/>
            <a:ext cx="5257800" cy="0"/>
          </a:xfrm>
          <a:prstGeom prst="line">
            <a:avLst/>
          </a:prstGeom>
          <a:noFill/>
          <a:ln w="12700">
            <a:solidFill>
              <a:srgbClr val="9AA4B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96112" y="40919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3144713"/>
            <a:ext cx="960120" cy="2616007"/>
          </a:xfrm>
          <a:prstGeom prst="roundRect">
            <a:avLst>
              <a:gd name="adj" fmla="val 3810"/>
            </a:avLst>
          </a:prstGeom>
          <a:solidFill>
            <a:srgbClr val="2A7A66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760665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58338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0" y="4324060"/>
            <a:ext cx="960120" cy="1436660"/>
          </a:xfrm>
          <a:prstGeom prst="roundRect">
            <a:avLst>
              <a:gd name="adj" fmla="val 3810"/>
            </a:avLst>
          </a:prstGeom>
          <a:solidFill>
            <a:srgbClr val="A8382C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39400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38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0.469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54680" y="58338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swapped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문맥만 교체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57800" y="4275049"/>
            <a:ext cx="960120" cy="1485671"/>
          </a:xfrm>
          <a:prstGeom prst="roundRect">
            <a:avLst>
              <a:gd name="adj" fmla="val 3810"/>
            </a:avLst>
          </a:prstGeom>
          <a:solidFill>
            <a:srgbClr val="A8382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891001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38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0.485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58338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empty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삭제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69480" y="1783080"/>
            <a:ext cx="4279392" cy="2103120"/>
          </a:xfrm>
          <a:prstGeom prst="roundRect">
            <a:avLst>
              <a:gd name="adj" fmla="val 3913"/>
            </a:avLst>
          </a:prstGeom>
          <a:solidFill>
            <a:srgbClr val="FBF2E4"/>
          </a:solidFill>
          <a:ln/>
        </p:spPr>
      </p:sp>
      <p:sp>
        <p:nvSpPr>
          <p:cNvPr id="20" name="Text 18"/>
          <p:cNvSpPr/>
          <p:nvPr/>
        </p:nvSpPr>
        <p:spPr>
          <a:xfrm>
            <a:off x="7516368" y="1938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한 실험인가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16368" y="226771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보낼 메시지는 하나도 바꾸지 않고, 앞 대화만 다른 방의 것으로 바꿔치기하거나 아예 지운 뒤 같은 모델로 다시 판정했습니다.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516368" y="3246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하락폭  </a:t>
            </a:r>
            <a:pPr indent="0" marL="0">
              <a:buNone/>
            </a:pPr>
            <a:r>
              <a:rPr lang="en-US" sz="2200" b="1" dirty="0">
                <a:solidFill>
                  <a:srgbClr val="A838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−0.385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69480" y="4114800"/>
            <a:ext cx="4279392" cy="2194560"/>
          </a:xfrm>
          <a:prstGeom prst="roundRect">
            <a:avLst>
              <a:gd name="adj" fmla="val 3750"/>
            </a:avLst>
          </a:prstGeom>
          <a:solidFill>
            <a:srgbClr val="1F2A5C"/>
          </a:solidFill>
          <a:ln/>
        </p:spPr>
      </p:sp>
      <p:sp>
        <p:nvSpPr>
          <p:cNvPr id="24" name="Text 22"/>
          <p:cNvSpPr/>
          <p:nvPr/>
        </p:nvSpPr>
        <p:spPr>
          <a:xfrm>
            <a:off x="7516368" y="4279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16368" y="45720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문맥을 건드리면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찍기 수준으로 무너진다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516368" y="54406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응답은 그대로인데 성능이 사라졌습니다. 성능의 출처가 응답의 말투가 아니라 문맥이라는 직접 증거입니다.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대조와 운영 임계값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기반보다 얼마나 나은가, 그리고 운영값은 어디에 두는가.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9893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5875">
            <a:solidFill>
              <a:srgbClr val="E2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38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대조 — 같은 1,000행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2331720"/>
            <a:ext cx="0" cy="3291840"/>
          </a:xfrm>
          <a:prstGeom prst="line">
            <a:avLst/>
          </a:prstGeom>
          <a:noFill/>
          <a:ln w="12700">
            <a:solidFill>
              <a:srgbClr val="9AA4B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389120" y="20848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history-only (TF-IDF)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2450592"/>
            <a:ext cx="887151" cy="402336"/>
          </a:xfrm>
          <a:prstGeom prst="roundRect">
            <a:avLst>
              <a:gd name="adj" fmla="val 6818"/>
            </a:avLst>
          </a:prstGeom>
          <a:solidFill>
            <a:srgbClr val="C3CBD6"/>
          </a:solidFill>
          <a:ln/>
        </p:spPr>
      </p:sp>
      <p:sp>
        <p:nvSpPr>
          <p:cNvPr id="11" name="Text 9"/>
          <p:cNvSpPr/>
          <p:nvPr/>
        </p:nvSpPr>
        <p:spPr>
          <a:xfrm>
            <a:off x="4023543" y="245059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0.294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0815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response-only (TF-IDF)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63240" y="3108960"/>
            <a:ext cx="1179850" cy="402336"/>
          </a:xfrm>
          <a:prstGeom prst="roundRect">
            <a:avLst>
              <a:gd name="adj" fmla="val 6818"/>
            </a:avLst>
          </a:prstGeom>
          <a:solidFill>
            <a:srgbClr val="C3CBD6"/>
          </a:solidFill>
          <a:ln/>
        </p:spPr>
      </p:sp>
      <p:sp>
        <p:nvSpPr>
          <p:cNvPr id="14" name="Text 12"/>
          <p:cNvSpPr/>
          <p:nvPr/>
        </p:nvSpPr>
        <p:spPr>
          <a:xfrm>
            <a:off x="4316242" y="310896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0.391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373989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제거한 우리 모델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63240" y="3767328"/>
            <a:ext cx="1463497" cy="402336"/>
          </a:xfrm>
          <a:prstGeom prst="roundRect">
            <a:avLst>
              <a:gd name="adj" fmla="val 6818"/>
            </a:avLst>
          </a:prstGeom>
          <a:solidFill>
            <a:srgbClr val="C3CBD6"/>
          </a:solidFill>
          <a:ln/>
        </p:spPr>
      </p:sp>
      <p:sp>
        <p:nvSpPr>
          <p:cNvPr id="17" name="Text 15"/>
          <p:cNvSpPr/>
          <p:nvPr/>
        </p:nvSpPr>
        <p:spPr>
          <a:xfrm>
            <a:off x="4599889" y="376732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0.485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439826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어휘 + 격식 규칙 기반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63240" y="4425696"/>
            <a:ext cx="2187702" cy="402336"/>
          </a:xfrm>
          <a:prstGeom prst="roundRect">
            <a:avLst>
              <a:gd name="adj" fmla="val 6818"/>
            </a:avLst>
          </a:prstGeom>
          <a:solidFill>
            <a:srgbClr val="B4711E"/>
          </a:solidFill>
          <a:ln/>
        </p:spPr>
      </p:sp>
      <p:sp>
        <p:nvSpPr>
          <p:cNvPr id="20" name="Text 18"/>
          <p:cNvSpPr/>
          <p:nvPr/>
        </p:nvSpPr>
        <p:spPr>
          <a:xfrm>
            <a:off x="5324094" y="442569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0.725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505663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A.X-Encoder (제안)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63240" y="5084064"/>
            <a:ext cx="2576962" cy="402336"/>
          </a:xfrm>
          <a:prstGeom prst="roundRect">
            <a:avLst>
              <a:gd name="adj" fmla="val 6818"/>
            </a:avLst>
          </a:prstGeom>
          <a:solidFill>
            <a:srgbClr val="2A7A66"/>
          </a:solidFill>
          <a:ln/>
        </p:spPr>
      </p:sp>
      <p:sp>
        <p:nvSpPr>
          <p:cNvPr id="23" name="Text 21"/>
          <p:cNvSpPr/>
          <p:nvPr/>
        </p:nvSpPr>
        <p:spPr>
          <a:xfrm>
            <a:off x="5713354" y="508406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63240" y="5806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기반(0.725) 대비  +0.129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1783080"/>
            <a:ext cx="4599432" cy="27432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7205472" y="1920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임계값 — 0.7 채택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223760" y="22860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686800" y="228600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646920" y="22860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515600" y="228600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팝업률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23760" y="279806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 (F1 최대)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86800" y="279806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46920" y="279806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0.860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515600" y="279806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0.506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32320" y="3282696"/>
            <a:ext cx="4224528" cy="457200"/>
          </a:xfrm>
          <a:prstGeom prst="roundRect">
            <a:avLst>
              <a:gd name="adj" fmla="val 12000"/>
            </a:avLst>
          </a:prstGeom>
          <a:solidFill>
            <a:srgbClr val="E9F3EF"/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0" y="331012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0.70 (채택)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686800" y="331012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0.882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46920" y="331012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0.776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515600" y="3310128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0.440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23760" y="38221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686800" y="382219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0.921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646920" y="38221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0.582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515600" y="382219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0.316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949440" y="4709160"/>
            <a:ext cx="4599432" cy="1051560"/>
          </a:xfrm>
          <a:prstGeom prst="roundRect">
            <a:avLst>
              <a:gd name="adj" fmla="val 7826"/>
            </a:avLst>
          </a:prstGeom>
          <a:solidFill>
            <a:srgbClr val="1F2A5C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0" y="484632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FFD9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 최대점을 쓰지 않은 이유 —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F1은 놓침과 오탐을 같은 무게로 봅니다. 우리는 오탐 비용이 훨씬 큽니다.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67728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적용값은 judgment_logs.threshold 에 기록되어 판정을 사후 재현할 수 있습니다.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3가지 — 잘된 숫자보다 먼저 말씀드립니다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각각에 대한 대응이 이미 설계에 들어 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02152" cy="2606040"/>
          </a:xfrm>
          <a:prstGeom prst="roundRect">
            <a:avLst>
              <a:gd name="adj" fmla="val 3158"/>
            </a:avLst>
          </a:prstGeom>
          <a:solidFill>
            <a:srgbClr val="F8ECEA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965960"/>
            <a:ext cx="365760" cy="365760"/>
          </a:xfrm>
          <a:prstGeom prst="ellipse">
            <a:avLst/>
          </a:prstGeom>
          <a:solidFill>
            <a:srgbClr val="A8382C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522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평가셋이 100행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25146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0건이어도 95% 신뢰 상한은 0.06. 작은 표본은 좋은 결과를 과장합니다.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3502152" cy="1234440"/>
          </a:xfrm>
          <a:prstGeom prst="roundRect">
            <a:avLst>
              <a:gd name="adj" fmla="val 6667"/>
            </a:avLst>
          </a:prstGeom>
          <a:solidFill>
            <a:srgbClr val="E9F3E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4645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→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49194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3단계 테스트셋 v4 200행 구축 완료 — 인코더 벤치마크는 다음 단계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3502152" cy="2606040"/>
          </a:xfrm>
          <a:prstGeom prst="roundRect">
            <a:avLst>
              <a:gd name="adj" fmla="val 3158"/>
            </a:avLst>
          </a:prstGeom>
          <a:solidFill>
            <a:srgbClr val="F8ECE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44568" y="1965960"/>
            <a:ext cx="365760" cy="365760"/>
          </a:xfrm>
          <a:prstGeom prst="ellipse">
            <a:avLst/>
          </a:prstGeom>
          <a:solidFill>
            <a:srgbClr val="A8382C"/>
          </a:solidFill>
          <a:ln/>
        </p:spPr>
      </p:sp>
      <p:sp>
        <p:nvSpPr>
          <p:cNvPr id="15" name="Text 13"/>
          <p:cNvSpPr/>
          <p:nvPr/>
        </p:nvSpPr>
        <p:spPr>
          <a:xfrm>
            <a:off x="4544568" y="19522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98424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 기저율 미확정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62856" y="25146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오발송이 전체 메시지의 1%라면 같은 모델도 precision이 0.14까지 떨어질 수 있습니다.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4526280"/>
            <a:ext cx="3502152" cy="1234440"/>
          </a:xfrm>
          <a:prstGeom prst="roundRect">
            <a:avLst>
              <a:gd name="adj" fmla="val 6667"/>
            </a:avLst>
          </a:prstGeom>
          <a:solidFill>
            <a:srgbClr val="E9F3EF"/>
          </a:solidFill>
          <a:ln/>
        </p:spPr>
      </p:sp>
      <p:sp>
        <p:nvSpPr>
          <p:cNvPr id="19" name="Text 17"/>
          <p:cNvSpPr/>
          <p:nvPr/>
        </p:nvSpPr>
        <p:spPr>
          <a:xfrm>
            <a:off x="4562856" y="4645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→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62856" y="49194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로그의 보내기/취소(user_action)를 축적해 실측 → 임계값 재조정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0" y="1783080"/>
            <a:ext cx="3502152" cy="2606040"/>
          </a:xfrm>
          <a:prstGeom prst="roundRect">
            <a:avLst>
              <a:gd name="adj" fmla="val 3158"/>
            </a:avLst>
          </a:prstGeom>
          <a:solidFill>
            <a:srgbClr val="F8ECEA"/>
          </a:solidFill>
          <a:ln/>
        </p:spPr>
      </p:sp>
      <p:sp>
        <p:nvSpPr>
          <p:cNvPr id="22" name="Shape 20"/>
          <p:cNvSpPr/>
          <p:nvPr/>
        </p:nvSpPr>
        <p:spPr>
          <a:xfrm>
            <a:off x="8247888" y="1965960"/>
            <a:ext cx="365760" cy="365760"/>
          </a:xfrm>
          <a:prstGeom prst="ellipse">
            <a:avLst/>
          </a:prstGeom>
          <a:solidFill>
            <a:srgbClr val="A8382C"/>
          </a:solidFill>
          <a:ln/>
        </p:spPr>
      </p:sp>
      <p:sp>
        <p:nvSpPr>
          <p:cNvPr id="23" name="Text 21"/>
          <p:cNvSpPr/>
          <p:nvPr/>
        </p:nvSpPr>
        <p:spPr>
          <a:xfrm>
            <a:off x="8247888" y="19522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32520" y="198424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범위가 좁다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66176" y="25146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"방을 착각한 전송"만 다룹니다. 같은 방 안의 지시 위반 · 사실 불일치는 못 잡습니다 (hard셋 recall 0.02).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4526280"/>
            <a:ext cx="3502152" cy="1234440"/>
          </a:xfrm>
          <a:prstGeom prst="roundRect">
            <a:avLst>
              <a:gd name="adj" fmla="val 6667"/>
            </a:avLst>
          </a:prstGeom>
          <a:solidFill>
            <a:srgbClr val="E9F3EF"/>
          </a:solidFill>
          <a:ln/>
        </p:spPr>
      </p:sp>
      <p:sp>
        <p:nvSpPr>
          <p:cNvPr id="27" name="Text 25"/>
          <p:cNvSpPr/>
          <p:nvPr/>
        </p:nvSpPr>
        <p:spPr>
          <a:xfrm>
            <a:off x="8266176" y="4645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→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66176" y="49194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오발송 탐지와 별개 능력으로 정의하고, 전용 데이터부터 새로 설계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98932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F2A5C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989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범위 밖 입력에서도 오탐은 0건 — 모르는 유형은 조용히 통과시킵니다. precision 우선 설계에서 올바른 실패 방향입니다.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결론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정리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교차검증 OOF 정확도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072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0.725 대비 +0.129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1F2A5C"/>
          </a:solidFill>
          <a:ln/>
        </p:spPr>
      </p:sp>
      <p:sp>
        <p:nvSpPr>
          <p:cNvPr id="9" name="Text 7"/>
          <p:cNvSpPr/>
          <p:nvPr/>
        </p:nvSpPr>
        <p:spPr>
          <a:xfrm>
            <a:off x="3593592" y="17830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9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−0.385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93592" y="24688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절제 시 하락폭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93592" y="28072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문맥을 읽는다는 직접 증거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81344" y="160020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364224" y="17830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538ms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64224" y="24688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지연 · 단일 요청 p50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64224" y="28072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예산 4초의 13%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51976" y="160020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9134856" y="17830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34856" y="24688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34856" y="28072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대화가 서버 밖으로 나가지 않음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E2E7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9136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웹앱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315968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· 친구 · 방 · 실시간 전송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팝업 · 강행 전송 · 검증 배지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0712" y="37490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E2E7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39136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93592" y="4315968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1,000행 + 평가 100행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누출 검사 전 항목 통과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81344" y="37490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E2E7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39136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모델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64224" y="4315968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A.X-Encoder 파인튜닝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3종 교체 가능 구조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51976" y="37490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E2E7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34856" y="39136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34856" y="4315968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355건 · 프론트엔드 147건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통과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5897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정확도·하락폭은 5-fold 교차검증 OOF 기준 · 지연은 단일 요청 순차 30회 실측 기준 (배치 32 처리량 p50은 512ms)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71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결론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 계획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급한 것은 성능을 올리는 일이 아니라, 지금 성능을 제대로 아는 일입니다.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58384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1984248"/>
            <a:ext cx="365760" cy="36576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970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3312" y="20025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 기저율 확정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882896" y="2002536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A8382C"/>
          </a:solidFill>
          <a:ln/>
        </p:spPr>
      </p:sp>
      <p:sp>
        <p:nvSpPr>
          <p:cNvPr id="10" name="Text 8"/>
          <p:cNvSpPr/>
          <p:nvPr/>
        </p:nvSpPr>
        <p:spPr>
          <a:xfrm>
            <a:off x="4882896" y="20025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최우선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6112" y="253288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로그의 보내기/취소 선택을 모아 실제 오발송 비율을 측정하고 임계값을 다시 정합니다.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0488" y="1783080"/>
            <a:ext cx="5358384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9944" y="1984248"/>
            <a:ext cx="365760" cy="36576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9944" y="1970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03720" y="20025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 확대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610344" y="2002536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B4711E"/>
          </a:solidFill>
          <a:ln/>
        </p:spPr>
      </p:sp>
      <p:sp>
        <p:nvSpPr>
          <p:cNvPr id="17" name="Text 15"/>
          <p:cNvSpPr/>
          <p:nvPr/>
        </p:nvSpPr>
        <p:spPr>
          <a:xfrm>
            <a:off x="9610344" y="20025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완료 · 평가 예정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46520" y="253288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3단계 테스트셋 v4(200행)를 구축했습니다. 어휘 겹침만으로는 못 푸는 hard 구간 포함 — 인코더 벤치마크가 다음 단계입니다.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04488"/>
            <a:ext cx="5358384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59536" y="4105656"/>
            <a:ext cx="365760" cy="36576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4091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53312" y="41239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범위 확장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882896" y="4123944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9AA4B0"/>
          </a:solidFill>
          <a:ln/>
        </p:spPr>
      </p:sp>
      <p:sp>
        <p:nvSpPr>
          <p:cNvPr id="24" name="Text 22"/>
          <p:cNvSpPr/>
          <p:nvPr/>
        </p:nvSpPr>
        <p:spPr>
          <a:xfrm>
            <a:off x="4882896" y="41239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96112" y="4654296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방 안의 날짜 · 대상 불일치는 지금 못 잡습니다. 오발송 탐지와 별개 능력이라 데이터부터 설계합니다.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90488" y="3904488"/>
            <a:ext cx="5358384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9944" y="4105656"/>
            <a:ext cx="365760" cy="36576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9944" y="4091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3720" y="41239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 확장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10433304" y="4123944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9AA4B0"/>
          </a:solidFill>
          <a:ln/>
        </p:spPr>
      </p:sp>
      <p:sp>
        <p:nvSpPr>
          <p:cNvPr id="31" name="Text 29"/>
          <p:cNvSpPr/>
          <p:nvPr/>
        </p:nvSpPr>
        <p:spPr>
          <a:xfrm>
            <a:off x="10433304" y="41239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46520" y="4654296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연결 정보가 프로세스 메모리에 있어 서버를 늘릴 수 없습니다. Redis pub/sub으로 옮깁니다.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7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로그 테이블을 첫날부터 만든 이유가 여기 있습니다 — 사용자의 선택이 그대로 다음 평가 데이터가 됩니다.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161288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15768" y="3246120"/>
            <a:ext cx="3246120" cy="731520"/>
          </a:xfrm>
          <a:prstGeom prst="roundRect">
            <a:avLst>
              <a:gd name="adj" fmla="val 11250"/>
            </a:avLst>
          </a:prstGeom>
          <a:solidFill>
            <a:srgbClr val="2A3672"/>
          </a:solidFill>
          <a:ln/>
        </p:spPr>
      </p:sp>
      <p:sp>
        <p:nvSpPr>
          <p:cNvPr id="5" name="Text 3"/>
          <p:cNvSpPr/>
          <p:nvPr/>
        </p:nvSpPr>
        <p:spPr>
          <a:xfrm>
            <a:off x="2715768" y="32461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LLM이 아니라 인코더인가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36208" y="3246120"/>
            <a:ext cx="3246120" cy="731520"/>
          </a:xfrm>
          <a:prstGeom prst="roundRect">
            <a:avLst>
              <a:gd name="adj" fmla="val 11250"/>
            </a:avLst>
          </a:prstGeom>
          <a:solidFill>
            <a:srgbClr val="2A3672"/>
          </a:solidFill>
          <a:ln/>
        </p:spPr>
      </p:sp>
      <p:sp>
        <p:nvSpPr>
          <p:cNvPr id="7" name="Text 5"/>
          <p:cNvSpPr/>
          <p:nvPr/>
        </p:nvSpPr>
        <p:spPr>
          <a:xfrm>
            <a:off x="6236208" y="32461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왜 다시 만들었나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15768" y="4160520"/>
            <a:ext cx="3246120" cy="731520"/>
          </a:xfrm>
          <a:prstGeom prst="roundRect">
            <a:avLst>
              <a:gd name="adj" fmla="val 11250"/>
            </a:avLst>
          </a:prstGeom>
          <a:solidFill>
            <a:srgbClr val="2A3672"/>
          </a:solidFill>
          <a:ln/>
        </p:spPr>
      </p:sp>
      <p:sp>
        <p:nvSpPr>
          <p:cNvPr id="9" name="Text 7"/>
          <p:cNvSpPr/>
          <p:nvPr/>
        </p:nvSpPr>
        <p:spPr>
          <a:xfrm>
            <a:off x="2715768" y="41605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EPOCHS 4는 어떻게 정했나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6208" y="4160520"/>
            <a:ext cx="3246120" cy="731520"/>
          </a:xfrm>
          <a:prstGeom prst="roundRect">
            <a:avLst>
              <a:gd name="adj" fmla="val 11250"/>
            </a:avLst>
          </a:prstGeom>
          <a:solidFill>
            <a:srgbClr val="2A3672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41605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실사용에서도 잘 되는가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career-jikimi — 채팅창을 착각해 잘못 보내는 메시지, 제가 당신의 회사생활을 지켜드리겠습니다.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2026-08-03T08:07:11Z</dcterms:created>
  <dcterms:modified xsi:type="dcterms:W3CDTF">2026-08-03T08:07:11Z</dcterms:modified>
</cp:coreProperties>
</file>