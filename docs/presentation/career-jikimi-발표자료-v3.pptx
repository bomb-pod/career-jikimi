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career-jikimi 입니다. 채팅방을 착각해서 엉뚱한 방에 메시지를 보낸 경험, 다들 있으실 겁니다.
저희는 그 메시지가 전송되기 전에 대화 문맥을 읽고 경고하는 시스템을 만들었습니다.
오른쪽 화면이 실제 동작입니다. 배포 이야기가 오가는 방에 '치킨 어때'를 치면 경고가 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서론에서 왜 만들었는지, 본론에서 어떻게 만들었는지 특히 AI 모델링을 중심으로, 결론에서 성과와 다음 계획을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세 번째입니다. 저희는 메시지를 막지 않습니다. 되묻기만 하고 최종 결정은 사용자가 합니다.
그리고 오른쪽, 이 프로젝트 전체를 관통하는 원칙입니다. 놓치는 것보다 잘못 경고하는 것이 훨씬 치명적입니다.
데이터셋 설계도, 임계값 선택도 전부 이 원칙을 따랐습니다.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영상을 보시겠습니다. 배포 이야기가 오가는 방에 사담을 입력하면 경고가 뜨고,
일반적인 업무 메시지는 그냥 지나갑니다.
세 번째 기능이 이 프로젝트의 숨은 축입니다. 사용자가 '그래도 보내기'를 눌렀는지가 사실상의 정답 라벨이 되어서,
쓰면 쓸수록 평가 데이터가 쌓이는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6일 일정입니다. 눈여겨보실 부분은 2~3단계입니다.
모델을 돌리기 전에 데이터부터 검증했고, 정답이 새고 있다는 걸 발견해서 데이터셋을 처음부터 다시 만들었습니다.
그 이야기를 뒤에서 자세히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아키텍처는 단순합니다. nginx가 정적 파일을 서빙하고 API와 WebSocket을 FastAPI로 넘깁니다.
설명드릴 부분은 오른쪽입니다. 판정 백엔드를 인터페이스로 추상화해서, 환경변수 한 줄로 로컬 인코더와 GPT API를 바꿔 낄 수 있습니다.
덕분에 세 가지를 같은 조건에서 비교할 수 있었고, 최종적으로 로컬 인코더를 선택했습니다.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모델링 전체 흐름입니다. 학습 자체는 3번 한 단계고, 저희가 시간을 가장 많이 쓴 건 1번과 2번입니다.
특히 2번은 통과하지 못하면 학습으로 넘어가지 않는 관문으로 뒀습니다.
모델 점수가 잘 나와도, 그게 문맥을 읽어서 나온 건지 말투를 외워서 나온 건지는 나중에 구분하기 어렵기 때문입니다.
그리고 실제로 저희 1차 데이터가 여기서 탈락했습니다.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선택의 출발점은 '이게 어떤 문제인가'였습니다.
저희가 필요한 건 문장 생성이 아니라 적절/부적절 두 개 중 하나입니다. 그러면 디코더가 필요 없고, 인코더 분류기로 충분합니다.
두 번째가 결정적이었습니다. 채팅 내용을 외부 API로 보내는 서비스는, 그 자체가 사용자가 쓰기 꺼려지는 이유가 됩니다.
실제로 GPT API와 로컬 LLM도 붙여서 비교했고, 성능이 충분히 나와서 로컬 인코더를 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저희 프로젝트에서 가장 자랑스러운 부분입니다.
먼저 100개를 직접 만들면서 기준을 세웠습니다. 그런데 검사해보니 응답 문장만 보고도 93%를 맞힐 수 있었습니다.
모델이 문맥을 읽는 게 아니라 응답의 말투를 외우면 되는 데이터였던 겁니다.
그래서 짝 구조로 다시 만들었습니다. 같은 응답이 어떤 방에서는 적절하고 어떤 방에서는 부적절하도록요.
그 결과 응답만 보는 성능이 정확히 찍기 수준인 0.5로 내려갔습니다.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짝 구조를 구체적으로 보여드리겠습니다.
왼쪽은 개발팀 배포 채널, 오른쪽은 동아리 뒷풀이 방입니다. 보내려는 문장은 완전히 같습니다.
그런데 왼쪽에서는 적절하고 오른쪽에서는 부적절합니다.
즉 이 문장만 보고는 라벨을 절대 알 수 없습니다. 앞 대화를 봐야만 알 수 있습니다.
고유 응답 500개 전원을 이렇게 배치했고, 그래서 응답만 보는 기준선이 정확히 0.5가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세팅입니다. 네 개 숫자 중 EPOCHS를 강조하고 싶습니다.
관례로 정한 게 아니라, 16 epoch까지 돌려보고 검증 loss가 최저를 찍고 다시 올라가는 지점을 찾아서 4로 정했습니다.
loss는 이진 분류이므로 CrossEntropyLoss입니다.
아래 분할 전략도 중요합니다. 저희 데이터는 같은 응답이 두 번 등장하는 짝 구조라, 짝을 통째로 묶지 않으면 답을 미리 본 셈이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평가는 네 가지를 따로 쟀습니다.
1번은 일반화 여부, 2번은 무엇을 보고 판단하는지, 3번은 규칙 기반보다 나은지, 4번은 실제로 쓸 수 있는지입니다.
이 중 2번이 저희 핵심 지표입니다. 정확도는 데이터가 쉬우면 그냥 올라가는데,
절제 실험은 모델이 실제로 무엇을 보고 있는지를 알려주기 때문입니다.
다음 장에서 그 결과를 보여드리겠습니다.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평가에서 가장 중요한 장입니다.
정확도 0.854라는 숫자만으로는 모델이 문맥을 읽었는지 응답의 말투를 외웠는지 알 수 없습니다.
그래서 응답은 그대로 두고 앞 대화만 바꿔치기해서 다시 재봤습니다. 0.854가 0.469로 떨어졌습니다.
찍기 수준인 0.5보다도 낮습니다. 즉 문맥이 없으면 이 모델은 아무것도 모릅니다.
이게 저희가 증명하고 싶었던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왼쪽, 규칙 기반 대비 0.129 높습니다. 그리고 위쪽 두 개가 찍기 수준 아래인 것이 데이터에 누출이 없다는 증거입니다.
오른쪽, 임계값은 F1 최대점이 아니라 0.7을 골랐습니다. F1은 놓침과 오탐을 같은 무게로 보는데 저희는 그렇지 않기 때문입니다.
아래가 그 교환을 숫자로 쓴 것입니다. 오발송 8%를 더 놓치는 대신 경고 정확도를 3%p 올리고 팝업을 13% 줄였습니다.
팝업이 줄어드는 게 왜 중요하냐면, 팝업이 잦으면 사용자가 읽지 않고 닫기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한계를 질문받기 전에 먼저 말씀드리겠습니다.
2번이 가장 큽니다. 저희 평가 데이터는 적절과 부적절이 반반인데 실제 채팅에서 오발송은 훨씬 드뭅니다.
오발송이 1%라면 같은 모델도 경고 7번 중 1번만 진짜가 됩니다.
중요한 건 세 가지 다 '측정해보니 나빴다'가 아니라 '아직 측정하지 못했다'는 점입니다.
그래서 저희 다음 단계는 성능 개선이 아니라 측정입니다.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성과를 네 숫자로 정리했습니다.
가장 의미 있는 건 두 번째, 절제 실험 하락폭입니다. 정확도는 데이터가 쉬우면 올라가지만, 이 값은 모델이 무엇을 보고 있는지를 말해줍니다.
네 번째도 강조하고 싶습니다. 채팅 내용이 서버 밖으로 한 건도 나가지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고도화 계획입니다. 순서가 곧 우선순위입니다.
1번이 최우선인 이유는, 지금 저희가 실사용 성능을 모르기 때문입니다. 평가셋에서 잘 나온다고 실제로 잘 되는 게 아닙니다.
그리고 그걸 알아내는 방법을 처음부터 설계에 넣어뒀습니다. 사용자가 경고를 무시하고 보냈는지 취소했는지가 정답 라벨이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감사합니다. 질문 받겠습니다.
예상 질문 네 가지에 대한 답은 발표 스크립트 문서에 정리해두었습니다.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불일치 메시지 사전 경고 시스템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1783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career-jikimi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채팅창을 착각해 잘못 보내는 메시지,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당신의 회사생활을 지켜드리겠습니다.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913632"/>
            <a:ext cx="1371600" cy="0"/>
          </a:xfrm>
          <a:prstGeom prst="line">
            <a:avLst/>
          </a:prstGeom>
          <a:noFill/>
          <a:ln w="31750">
            <a:solidFill>
              <a:srgbClr val="C976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career-jikimi 팀  ·  발표자 지환  ·  2026. 08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60920" y="1051560"/>
            <a:ext cx="4114800" cy="4754880"/>
          </a:xfrm>
          <a:prstGeom prst="roundRect">
            <a:avLst>
              <a:gd name="adj" fmla="val 3111"/>
            </a:avLst>
          </a:prstGeom>
          <a:solidFill>
            <a:srgbClr val="1B2456"/>
          </a:solidFill>
          <a:ln w="15240">
            <a:solidFill>
              <a:srgbClr val="2B3A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07808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 배포 채널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716768" y="1316736"/>
            <a:ext cx="182880" cy="182880"/>
          </a:xfrm>
          <a:prstGeom prst="ellipse">
            <a:avLst/>
          </a:prstGeom>
          <a:solidFill>
            <a:srgbClr val="2B7A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07808" y="1755648"/>
            <a:ext cx="2651760" cy="420624"/>
          </a:xfrm>
          <a:prstGeom prst="roundRect">
            <a:avLst>
              <a:gd name="adj" fmla="val 21739"/>
            </a:avLst>
          </a:prstGeom>
          <a:solidFill>
            <a:srgbClr val="2630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99248" y="17556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배포 리허설 몇 시로 할까요?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549640" y="2304288"/>
            <a:ext cx="2651760" cy="420624"/>
          </a:xfrm>
          <a:prstGeom prst="roundRect">
            <a:avLst>
              <a:gd name="adj" fmla="val 21739"/>
            </a:avLst>
          </a:prstGeom>
          <a:solidFill>
            <a:srgbClr val="2B3A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23042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10시면 될 것 같습니다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607808" y="2852928"/>
            <a:ext cx="2651760" cy="420624"/>
          </a:xfrm>
          <a:prstGeom prst="roundRect">
            <a:avLst>
              <a:gd name="adj" fmla="val 21739"/>
            </a:avLst>
          </a:prstGeom>
          <a:solidFill>
            <a:srgbClr val="2630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99248" y="285292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4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절차도 같이 봐주세요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49640" y="3456432"/>
            <a:ext cx="2651760" cy="420624"/>
          </a:xfrm>
          <a:prstGeom prst="roundRect">
            <a:avLst>
              <a:gd name="adj" fmla="val 21739"/>
            </a:avLst>
          </a:prstGeom>
          <a:solidFill>
            <a:srgbClr val="2B3A76"/>
          </a:solidFill>
          <a:ln w="19050">
            <a:solidFill>
              <a:srgbClr val="C976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0" y="345643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저녁에 치킨 어때?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07808" y="4133088"/>
            <a:ext cx="3611880" cy="1298448"/>
          </a:xfrm>
          <a:prstGeom prst="roundRect">
            <a:avLst>
              <a:gd name="adj" fmla="val 7042"/>
            </a:avLst>
          </a:prstGeom>
          <a:solidFill>
            <a:srgbClr val="FBF1E4"/>
          </a:solidFill>
          <a:ln w="15240">
            <a:solidFill>
              <a:srgbClr val="C9761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90688" y="4334256"/>
            <a:ext cx="292608" cy="292608"/>
          </a:xfrm>
          <a:prstGeom prst="ellipse">
            <a:avLst/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0688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83880" y="4315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방에 맞지 않는 것 같습니다.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83880" y="45537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65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보낼까요?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83880" y="4901184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A8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490118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45168" y="4901184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45168" y="490118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보내기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1214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59536" y="2633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서론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77824" y="3300984"/>
            <a:ext cx="100584" cy="1005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배경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77824" y="3803904"/>
            <a:ext cx="100584" cy="1005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721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소개 (시연)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7824" y="4306824"/>
            <a:ext cx="100584" cy="1005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WBS · 역할 분담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70248" y="187452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21214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62856" y="2633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본론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581144" y="3300984"/>
            <a:ext cx="100584" cy="100584"/>
          </a:xfrm>
          <a:prstGeom prst="ellipse">
            <a:avLst/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/ 기술스택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81144" y="3803904"/>
            <a:ext cx="100584" cy="100584"/>
          </a:xfrm>
          <a:prstGeom prst="ellipse">
            <a:avLst/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721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모델링 전체 흐름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81144" y="4306824"/>
            <a:ext cx="100584" cy="100584"/>
          </a:xfrm>
          <a:prstGeom prst="ellipse">
            <a:avLst/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어떤 모델을 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81144" y="4809744"/>
            <a:ext cx="100584" cy="100584"/>
          </a:xfrm>
          <a:prstGeom prst="ellipse">
            <a:avLst/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4727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어떻게 학습 (데이터 · 세팅)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81144" y="5312664"/>
            <a:ext cx="100584" cy="100584"/>
          </a:xfrm>
          <a:prstGeom prst="ellipse">
            <a:avLst/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5230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어떻게 평가 (방법론 · 결과 · 한계)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973568" y="187452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E9F5F2"/>
          </a:solidFill>
          <a:ln w="9525">
            <a:solidFill>
              <a:srgbClr val="E9F5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6176" y="21214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7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266176" y="2633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8284464" y="3300984"/>
            <a:ext cx="100584" cy="100584"/>
          </a:xfrm>
          <a:prstGeom prst="ellipse">
            <a:avLst/>
          </a:prstGeom>
          <a:solidFill>
            <a:srgbClr val="2B7A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정리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84464" y="3803904"/>
            <a:ext cx="100584" cy="100584"/>
          </a:xfrm>
          <a:prstGeom prst="ellipse">
            <a:avLst/>
          </a:prstGeom>
          <a:solidFill>
            <a:srgbClr val="2B7A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3721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 계획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서론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배경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보낸 메시지는 되돌릴 수 없습니다. 삭제해도 이미 읽힌 뒤입니다.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6720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2140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89888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89888" y="230428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채팅방을 착각한 전송은 사회적 비용이 크다.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업무방에 사담, 단체방에 개인 메시지 — 한 번이면 충분히 곤란하다.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154680"/>
            <a:ext cx="6720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44728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89888" y="3337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대안의 한계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89888" y="363016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취소는 시간 제한이 있고, 이미 읽혔으면 소용없다.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뜨는 확인 팝업은 곧 무시하게 된다 — 경고의 가치가 사라진다.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480560"/>
            <a:ext cx="6720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4773168"/>
            <a:ext cx="402336" cy="402336"/>
          </a:xfrm>
          <a:prstGeom prst="ellipse">
            <a:avLst/>
          </a:prstGeom>
          <a:solidFill>
            <a:srgbClr val="C9761D"/>
          </a:solidFill>
          <a:ln w="12700">
            <a:solidFill>
              <a:srgbClr val="C976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773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89888" y="4663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접근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89888" y="495604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문맥을 읽어 이 방에 맞지 않을 때만 경고한다.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사용자가 한다. 시스템은 막지 않고 되묻기만 한다.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07808" y="1828800"/>
            <a:ext cx="4023360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82128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82128" y="2487168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 1건이</a:t>
            </a:r>
            <a:endParaRPr lang="en-US" sz="27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전체를</a:t>
            </a:r>
            <a:endParaRPr lang="en-US" sz="27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죽인다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7882128" y="40416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멀쩡한 메시지에 경고가 반복되면 사용자는 팝업을 끄고, 기능은 존재하지 않는 것이 된다.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82128" y="4828032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2B3A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65008" y="482803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recall 보다 precision 을 우선 지표로 채택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서론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소개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채팅 위에 전송 전 판정을 얹었습니다.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6720840" cy="3977640"/>
          </a:xfrm>
          <a:prstGeom prst="roundRect">
            <a:avLst>
              <a:gd name="adj" fmla="val 2299"/>
            </a:avLst>
          </a:prstGeom>
          <a:solidFill>
            <a:srgbClr val="F1F4F9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29584" y="3401568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3794760" y="3611880"/>
            <a:ext cx="310896" cy="40233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370832"/>
            <a:ext cx="6720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영상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4681728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자리에 시연 영상을 삽입하세요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07808" y="18288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208483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57616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채팅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57616" y="23042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연결 1개로 여러 방을 멀티플렉싱한다.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07808" y="32004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3456432"/>
            <a:ext cx="365760" cy="365760"/>
          </a:xfrm>
          <a:prstGeom prst="ellipse">
            <a:avLst/>
          </a:prstGeom>
          <a:solidFill>
            <a:srgbClr val="C9761D"/>
          </a:solidFill>
          <a:ln w="12700">
            <a:solidFill>
              <a:srgbClr val="C976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57616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전 문맥 판정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57616" y="36758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대화 N개와 보낼 문장을 함께 읽고 판정한다.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부적절하면 저장하지 않고 되묻는다.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07808" y="45720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482803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57616" y="4754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선택의 기록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57616" y="50474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강행했는지 취소했는지를 남긴다.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선택이 곧 다음 학습 데이터가 된다.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서론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6일. 절반 이상을 데이터에 썼습니다.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20368" y="2212848"/>
            <a:ext cx="9357360" cy="0"/>
          </a:xfrm>
          <a:prstGeom prst="line">
            <a:avLst/>
          </a:prstGeom>
          <a:noFill/>
          <a:ln w="254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10640" y="2103120"/>
            <a:ext cx="219456" cy="21945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432304"/>
            <a:ext cx="170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7/29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1706880" cy="2011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926080"/>
            <a:ext cx="1450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요구사항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" y="3493008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AI-DLC 워크플로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4944" y="4023360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요구사항 · ADR 8건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2112" y="2103120"/>
            <a:ext cx="219456" cy="219456"/>
          </a:xfrm>
          <a:prstGeom prst="ellipse">
            <a:avLst/>
          </a:prstGeom>
          <a:solidFill>
            <a:srgbClr val="AA40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38400" y="2432304"/>
            <a:ext cx="170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4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7/29~30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38400" y="2743200"/>
            <a:ext cx="1706880" cy="2011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6416" y="2926080"/>
            <a:ext cx="1450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진단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6416" y="3493008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v1 500행 누출 발견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6416" y="4023360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설계 기준 확립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53584" y="2103120"/>
            <a:ext cx="219456" cy="219456"/>
          </a:xfrm>
          <a:prstGeom prst="ellipse">
            <a:avLst/>
          </a:prstGeom>
          <a:solidFill>
            <a:srgbClr val="C9761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9872" y="2432304"/>
            <a:ext cx="170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7/30~31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09872" y="2743200"/>
            <a:ext cx="1706880" cy="2011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7888" y="2926080"/>
            <a:ext cx="1450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재조립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37888" y="3493008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짝 구조 설계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7888" y="4023360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v3 1,000행 완성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25056" y="2103120"/>
            <a:ext cx="219456" cy="21945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2432304"/>
            <a:ext cx="170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7/31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81344" y="2743200"/>
            <a:ext cx="1706880" cy="2011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926080"/>
            <a:ext cx="1450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 · 평가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3493008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A.X-Encoder 파인튜닝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4023360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5-fold 교차검증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796528" y="2103120"/>
            <a:ext cx="219456" cy="21945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52816" y="2432304"/>
            <a:ext cx="170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8/1~2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52816" y="2743200"/>
            <a:ext cx="1706880" cy="2011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80832" y="2926080"/>
            <a:ext cx="1450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웹앱 통합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80832" y="3493008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판정 백엔드 3종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180832" y="4023360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테스트 355건 통과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668000" y="2103120"/>
            <a:ext cx="219456" cy="219456"/>
          </a:xfrm>
          <a:prstGeom prst="ellipse">
            <a:avLst/>
          </a:prstGeom>
          <a:solidFill>
            <a:srgbClr val="2B7A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24288" y="2432304"/>
            <a:ext cx="170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7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924288" y="2743200"/>
            <a:ext cx="1706880" cy="2011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2304" y="2926080"/>
            <a:ext cx="1450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 · 인프라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052304" y="3493008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테스트셋 v4 200행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052304" y="4023360"/>
            <a:ext cx="1450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nginx 분리 구성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6928" y="4956048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50840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04672" y="535838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모델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764792" y="535838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설계 · 파인튜닝 · 평가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410712" y="535838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370832" y="535838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WebSocket · 판정 통합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04672" y="561441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764792" y="561441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채팅 UI · 경고 팝업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410712" y="561441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· 문서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370832" y="561441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· nginx · 산출물 관리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236208" y="4956048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73952" y="51023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6일 중 3일을 데이터에 썼습니다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6473952" y="5394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5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데이터셋이 정답을 흘리고 있다는 것을 학습 전에 발견했고,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5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처음부터 다시 만들었습니다. 가장 중요한 결정이었습니다.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일정과 역할 분담은 저장소 커밋·문서 작성일 기준으로 구성한 초안입니다. 실제 팀 상황에 맞게 조정하세요.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/ 기술스택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3개. 판정 백엔드는 환경변수 한 줄로 교체됩니다.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7223760" cy="2331720"/>
          </a:xfrm>
          <a:prstGeom prst="roundRect">
            <a:avLst>
              <a:gd name="adj" fmla="val 3137"/>
            </a:avLst>
          </a:prstGeom>
          <a:solidFill>
            <a:srgbClr val="FAFBFD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46888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778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587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8620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18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12848" y="2944368"/>
            <a:ext cx="274320" cy="0"/>
          </a:xfrm>
          <a:prstGeom prst="line">
            <a:avLst/>
          </a:prstGeom>
          <a:noFill/>
          <a:ln w="17780">
            <a:solidFill>
              <a:srgbClr val="9AA2A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87168" y="246888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7780">
            <a:solidFill>
              <a:srgbClr val="C976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2587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87168" y="28620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nginx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+ 프록시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58768" y="2944368"/>
            <a:ext cx="274320" cy="0"/>
          </a:xfrm>
          <a:prstGeom prst="line">
            <a:avLst/>
          </a:prstGeom>
          <a:noFill/>
          <a:ln w="17780">
            <a:solidFill>
              <a:srgbClr val="9AA2A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33088" y="246888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778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2587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33088" y="28620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96128" y="2944368"/>
            <a:ext cx="274320" cy="0"/>
          </a:xfrm>
          <a:prstGeom prst="line">
            <a:avLst/>
          </a:prstGeom>
          <a:noFill/>
          <a:ln w="17780">
            <a:solidFill>
              <a:srgbClr val="9AA2A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70448" y="24688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7780">
            <a:solidFill>
              <a:srgbClr val="2B3A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0448" y="25877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70448" y="2862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MariaDB 11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utf8mb4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1248" y="35935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judgment 모듈이 app 안에서 판정을 수행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" y="21305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3개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65008" y="19659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02752" y="2148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백엔드 (교체 가능)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02752" y="2496312"/>
            <a:ext cx="3108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7780">
            <a:solidFill>
              <a:srgbClr val="C976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49056" y="25328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encoder   ← 현재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49056" y="27432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· 외부 전송 없음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302752" y="3063240"/>
            <a:ext cx="3108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D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49056" y="30998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49056" y="33101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 API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02752" y="3630168"/>
            <a:ext cx="3108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D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49056" y="366674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49056" y="38770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LLM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" y="4572000"/>
            <a:ext cx="2066544" cy="1298448"/>
          </a:xfrm>
          <a:prstGeom prst="roundRect">
            <a:avLst>
              <a:gd name="adj" fmla="val 5634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736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5029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18 · TypeScript 5.7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 6 · Zustand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816352" y="4572000"/>
            <a:ext cx="2066544" cy="1298448"/>
          </a:xfrm>
          <a:prstGeom prst="roundRect">
            <a:avLst>
              <a:gd name="adj" fmla="val 5634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80944" y="4736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80944" y="5029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WebSocket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SQLAlchemy + asyncmy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65776" y="4572000"/>
            <a:ext cx="2066544" cy="1298448"/>
          </a:xfrm>
          <a:prstGeom prst="roundRect">
            <a:avLst>
              <a:gd name="adj" fmla="val 5634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0368" y="4736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30368" y="5029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MariaDB 11 (InnoDB)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Alembic 마이그레이션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15200" y="4572000"/>
            <a:ext cx="2066544" cy="1298448"/>
          </a:xfrm>
          <a:prstGeom prst="roundRect">
            <a:avLst>
              <a:gd name="adj" fmla="val 5634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79792" y="4736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판정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479792" y="5029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A.X-Encoder 파인튜닝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PyTorch (CPU)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564624" y="4572000"/>
            <a:ext cx="2066544" cy="1298448"/>
          </a:xfrm>
          <a:prstGeom prst="roundRect">
            <a:avLst>
              <a:gd name="adj" fmla="val 5634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29216" y="4736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· 시험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729216" y="5029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Compose · nginx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 355 · Vitest 147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학습은 3단계입니다. 그 앞의 두 단계에 절반 이상을 썼습니다.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1905610" cy="1874520"/>
          </a:xfrm>
          <a:prstGeom prst="roundRect">
            <a:avLst>
              <a:gd name="adj" fmla="val 3902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15798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2651760"/>
            <a:ext cx="15032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설계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2980944"/>
            <a:ext cx="15032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구조로 만든다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응답을 양쪽 라벨에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5690" y="2907792"/>
            <a:ext cx="237744" cy="0"/>
          </a:xfrm>
          <a:prstGeom prst="line">
            <a:avLst/>
          </a:prstGeom>
          <a:noFill/>
          <a:ln w="20320">
            <a:solidFill>
              <a:srgbClr val="9AA2A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56586" y="1965960"/>
            <a:ext cx="1905610" cy="1874520"/>
          </a:xfrm>
          <a:prstGeom prst="roundRect">
            <a:avLst>
              <a:gd name="adj" fmla="val 3902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57754" y="2157984"/>
            <a:ext cx="384048" cy="384048"/>
          </a:xfrm>
          <a:prstGeom prst="ellipse">
            <a:avLst/>
          </a:prstGeom>
          <a:solidFill>
            <a:srgbClr val="C9761D"/>
          </a:solidFill>
          <a:ln w="12700">
            <a:solidFill>
              <a:srgbClr val="C976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57754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57754" y="2651760"/>
            <a:ext cx="15032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누출 검증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57754" y="2980944"/>
            <a:ext cx="15032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응답·문맥 단독으로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맞힐 수 있는지 검사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35347" y="2907792"/>
            <a:ext cx="237744" cy="0"/>
          </a:xfrm>
          <a:prstGeom prst="line">
            <a:avLst/>
          </a:prstGeom>
          <a:noFill/>
          <a:ln w="20320">
            <a:solidFill>
              <a:srgbClr val="9AA2A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46243" y="1965960"/>
            <a:ext cx="1905610" cy="1874520"/>
          </a:xfrm>
          <a:prstGeom prst="roundRect">
            <a:avLst>
              <a:gd name="adj" fmla="val 3902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7411" y="215798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7411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47411" y="2651760"/>
            <a:ext cx="15032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7411" y="2980944"/>
            <a:ext cx="15032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교차검증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 42 · 총 5회 학습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25005" y="2907792"/>
            <a:ext cx="237744" cy="0"/>
          </a:xfrm>
          <a:prstGeom prst="line">
            <a:avLst/>
          </a:prstGeom>
          <a:noFill/>
          <a:ln w="20320">
            <a:solidFill>
              <a:srgbClr val="9AA2A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35901" y="1965960"/>
            <a:ext cx="1905610" cy="1874520"/>
          </a:xfrm>
          <a:prstGeom prst="roundRect">
            <a:avLst>
              <a:gd name="adj" fmla="val 3902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7069" y="215798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7069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637069" y="2651760"/>
            <a:ext cx="15032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37069" y="2980944"/>
            <a:ext cx="15032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절제 실험 · 기준선 대조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threshold sweep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14662" y="2907792"/>
            <a:ext cx="237744" cy="0"/>
          </a:xfrm>
          <a:prstGeom prst="line">
            <a:avLst/>
          </a:prstGeom>
          <a:noFill/>
          <a:ln w="20320">
            <a:solidFill>
              <a:srgbClr val="9AA2A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725558" y="1965960"/>
            <a:ext cx="1905610" cy="1874520"/>
          </a:xfrm>
          <a:prstGeom prst="roundRect">
            <a:avLst>
              <a:gd name="adj" fmla="val 3902"/>
            </a:avLst>
          </a:prstGeom>
          <a:solidFill>
            <a:srgbClr val="E9F5F2"/>
          </a:solidFill>
          <a:ln w="9525">
            <a:solidFill>
              <a:srgbClr val="E9F5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26726" y="2157984"/>
            <a:ext cx="384048" cy="384048"/>
          </a:xfrm>
          <a:prstGeom prst="ellipse">
            <a:avLst/>
          </a:prstGeom>
          <a:solidFill>
            <a:srgbClr val="2B7A6C"/>
          </a:solidFill>
          <a:ln w="12700">
            <a:solidFill>
              <a:srgbClr val="2B7A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26726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926726" y="2651760"/>
            <a:ext cx="15032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926726" y="2980944"/>
            <a:ext cx="15032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임계값을 .env 로 고정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로그 축적 시작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4041648"/>
            <a:ext cx="6675120" cy="1810512"/>
          </a:xfrm>
          <a:prstGeom prst="roundRect">
            <a:avLst>
              <a:gd name="adj" fmla="val 4040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422452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2단계는 통과 못 하면 3단계로 넘어가지 않는 관문입니다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41248" y="4590288"/>
            <a:ext cx="6126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돌려서 점수가 잘 나와도, 그 점수가 문맥을 읽어서 나온 것인지 응답의 말투를 외워서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나온 것인지 사후에는 구분하기 어렵습니다. 그래서 학습 전에 데이터부터 검사했습니다.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41248" y="5285232"/>
            <a:ext cx="6126480" cy="420624"/>
          </a:xfrm>
          <a:prstGeom prst="roundRect">
            <a:avLst>
              <a:gd name="adj" fmla="val 13043"/>
            </a:avLst>
          </a:prstGeom>
          <a:solidFill>
            <a:srgbClr val="2B3A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" y="5285232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1차 데이터가 이 관문에서 탈락했고, 데이터셋을 다시 만들었습니다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516368" y="4041648"/>
            <a:ext cx="411480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54112" y="4206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결정 사항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54112" y="45354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668512" y="4535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+ response 만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54112" y="4846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668512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pair_id 단위 그룹 분할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54112" y="51572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668512" y="5157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우선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754112" y="54681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668512" y="5468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 한 곳에서만 결정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모델을 왜 골랐나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문제가 아니라 이진 분류 문제였습니다.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470916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482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skt / A.X-Encoder-base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41248" y="23957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ModernBERT 계열 인코더 · 0.1B · Apache-2.0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761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6000" y="27614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1억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30540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크기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86000" y="30540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299 MB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1248" y="33467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86000" y="33467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cross-encoder 이진 분류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32120" y="1828800"/>
            <a:ext cx="609904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79008" y="2103120"/>
            <a:ext cx="365760" cy="365760"/>
          </a:xfrm>
          <a:prstGeom prst="ellipse">
            <a:avLst/>
          </a:prstGeom>
          <a:solidFill>
            <a:srgbClr val="C9761D"/>
          </a:solidFill>
          <a:ln w="12700">
            <a:solidFill>
              <a:srgbClr val="C976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9008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72784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생성이 아니라 분류다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72784" y="23042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출력은 '적절 / 부적절' 하나뿐이다.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문장을 만들 필요가 없으니 디코더가 필요 없다.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32120" y="3127248"/>
            <a:ext cx="609904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79008" y="3401568"/>
            <a:ext cx="365760" cy="365760"/>
          </a:xfrm>
          <a:prstGeom prst="ellipse">
            <a:avLst/>
          </a:prstGeom>
          <a:solidFill>
            <a:srgbClr val="C9761D"/>
          </a:solidFill>
          <a:ln w="12700">
            <a:solidFill>
              <a:srgbClr val="C976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9008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2784" y="33101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대화가 밖으로 나가지 않는다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72784" y="36027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전량 로컬에서 처리한다. 채팅 내용을 외부 API로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보내지 않는 것이 이 서비스에서는 기능 요건이다.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32120" y="4425696"/>
            <a:ext cx="609904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79008" y="4700016"/>
            <a:ext cx="365760" cy="365760"/>
          </a:xfrm>
          <a:prstGeom prst="ellipse">
            <a:avLst/>
          </a:prstGeom>
          <a:solidFill>
            <a:srgbClr val="C9761D"/>
          </a:solidFill>
          <a:ln w="12700">
            <a:solidFill>
              <a:srgbClr val="C976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79008" y="4700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72784" y="46085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빠르고 공짜다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72784" y="490118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p50 538ms — 타임아웃 예산 4초에 여유가 크다.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비용이 없어 판정을 아끼지 않아도 된다.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3886200"/>
            <a:ext cx="4709160" cy="1920240"/>
          </a:xfrm>
          <a:prstGeom prst="roundRect">
            <a:avLst>
              <a:gd name="adj" fmla="val 3810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069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가지를 같은 조건에서 비교했습니다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" y="44074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2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 API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395728" y="44074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좋음 · 대화가 외부로 나감 · 비용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41248" y="48097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2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LLM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95728" y="480974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전송 없음 · 무겁고 느림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41248" y="5212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인코더 (채택)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395728" y="52120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전송 없음 · 299MB · 538ms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데이터를 어떻게 만들었나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학습을 시작하기 전에, 데이터가 정답을 흘리고 있는지부터 확인했습니다.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615184" cy="2395728"/>
          </a:xfrm>
          <a:prstGeom prst="roundRect">
            <a:avLst>
              <a:gd name="adj" fmla="val 3053"/>
            </a:avLst>
          </a:prstGeom>
          <a:solidFill>
            <a:srgbClr val="FBECEA"/>
          </a:solidFill>
          <a:ln w="9525">
            <a:solidFill>
              <a:srgbClr val="FBEC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066544"/>
            <a:ext cx="384048" cy="384048"/>
          </a:xfrm>
          <a:prstGeom prst="ellipse">
            <a:avLst/>
          </a:prstGeom>
          <a:solidFill>
            <a:srgbClr val="AA4034"/>
          </a:solidFill>
          <a:ln w="12700">
            <a:solidFill>
              <a:srgbClr val="AA40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257860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100행 직접 제작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8096" y="2907792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팀이 직접 만들고 눈으로 보며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적절 · 부적절의 기준을 세웠다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8096" y="3547872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4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68096" y="396849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응답만 보고 정답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0" y="2926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83280" y="1874520"/>
            <a:ext cx="2615184" cy="2395728"/>
          </a:xfrm>
          <a:prstGeom prst="roundRect">
            <a:avLst>
              <a:gd name="adj" fmla="val 3053"/>
            </a:avLst>
          </a:prstGeom>
          <a:solidFill>
            <a:srgbClr val="FBECEA"/>
          </a:solidFill>
          <a:ln w="9525">
            <a:solidFill>
              <a:srgbClr val="FBE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84448" y="2066544"/>
            <a:ext cx="384048" cy="384048"/>
          </a:xfrm>
          <a:prstGeom prst="ellipse">
            <a:avLst/>
          </a:prstGeom>
          <a:solidFill>
            <a:srgbClr val="AA4034"/>
          </a:solidFill>
          <a:ln w="12700">
            <a:solidFill>
              <a:srgbClr val="AA40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84448" y="257860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누출 진단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84448" y="2907792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문장만으로 라벨을 맞힐 수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있는지 기계적으로 검사했다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84448" y="3547872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4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0.99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584448" y="396849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v1 500행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16752" y="2926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99632" y="1874520"/>
            <a:ext cx="2615184" cy="2395728"/>
          </a:xfrm>
          <a:prstGeom prst="roundRect">
            <a:avLst>
              <a:gd name="adj" fmla="val 3053"/>
            </a:avLst>
          </a:prstGeom>
          <a:solidFill>
            <a:srgbClr val="E9F5F2"/>
          </a:solidFill>
          <a:ln w="9525">
            <a:solidFill>
              <a:srgbClr val="E9F5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066544"/>
            <a:ext cx="384048" cy="384048"/>
          </a:xfrm>
          <a:prstGeom prst="ellipse">
            <a:avLst/>
          </a:prstGeom>
          <a:solidFill>
            <a:srgbClr val="2B7A6C"/>
          </a:solidFill>
          <a:ln w="12700">
            <a:solidFill>
              <a:srgbClr val="2B7A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0" y="257860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구조로 재조립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0" y="2907792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응답을 적절 · 부적절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양쪽에 정확히 한 번씩 배치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3547872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7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400800" y="396849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찍기 수준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833104" y="2926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015984" y="1874520"/>
            <a:ext cx="2615184" cy="2395728"/>
          </a:xfrm>
          <a:prstGeom prst="roundRect">
            <a:avLst>
              <a:gd name="adj" fmla="val 3053"/>
            </a:avLst>
          </a:prstGeom>
          <a:solidFill>
            <a:srgbClr val="E9F5F2"/>
          </a:solidFill>
          <a:ln w="9525">
            <a:solidFill>
              <a:srgbClr val="E9F5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17152" y="2066544"/>
            <a:ext cx="384048" cy="384048"/>
          </a:xfrm>
          <a:prstGeom prst="ellipse">
            <a:avLst/>
          </a:prstGeom>
          <a:solidFill>
            <a:srgbClr val="2B7A6C"/>
          </a:solidFill>
          <a:ln w="12700">
            <a:solidFill>
              <a:srgbClr val="2B7A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17152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217152" y="257860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 1,000행 확정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217152" y="2907792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1,000행 + 평가 100행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0건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217152" y="3547872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7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9217152" y="396849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항목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" y="4462272"/>
            <a:ext cx="6766560" cy="1389888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462686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아이디어 — 짝 구조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41248" y="493776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 응답 500개 전원이 적절과 부적절 양쪽에 한 번씩 등장합니다.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응답만 보고는 원리적으로 맞힐 수 없습니다 — 여기서 성능이 나오면 그건 문맥을 읽었다는 뜻입니다.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589520" y="4462272"/>
            <a:ext cx="404164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27264" y="46085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누출 검사 (v3 최종)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827264" y="49011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response-only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875520" y="49011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698480" y="490118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B7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827264" y="51755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history-only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875520" y="51755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0.506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698480" y="517550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B7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827264" y="54498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셔플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75520" y="544982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0.498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0698480" y="544982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B7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구조 — 구체적으로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똑같은 문장이 한쪽에서는 적절하고 다른 쪽에서는 부적절합니다.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482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 A — 개발팀 배포 채널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3749040" cy="384048"/>
          </a:xfrm>
          <a:prstGeom prst="roundRect">
            <a:avLst>
              <a:gd name="adj" fmla="val 19048"/>
            </a:avLst>
          </a:prstGeom>
          <a:solidFill>
            <a:srgbClr val="F0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3957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배포 리허설 몇 시로 할까요?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94560" y="2871216"/>
            <a:ext cx="3749040" cy="384048"/>
          </a:xfrm>
          <a:prstGeom prst="roundRect">
            <a:avLst>
              <a:gd name="adj" fmla="val 19048"/>
            </a:avLst>
          </a:prstGeom>
          <a:solidFill>
            <a:srgbClr val="F0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22576" y="28712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10시면 될 것 같습니다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4381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보내려는 문장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3694176"/>
            <a:ext cx="4882896" cy="457200"/>
          </a:xfrm>
          <a:prstGeom prst="roundRect">
            <a:avLst>
              <a:gd name="adj" fmla="val 16000"/>
            </a:avLst>
          </a:prstGeom>
          <a:solidFill>
            <a:srgbClr val="FBF1E4"/>
          </a:solidFill>
          <a:ln w="16510">
            <a:solidFill>
              <a:srgbClr val="C976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694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"롤백 절차도 같이 봐주세요"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315968"/>
            <a:ext cx="4882896" cy="438912"/>
          </a:xfrm>
          <a:prstGeom prst="roundRect">
            <a:avLst>
              <a:gd name="adj" fmla="val 12500"/>
            </a:avLst>
          </a:prstGeom>
          <a:solidFill>
            <a:srgbClr val="E9F5F2"/>
          </a:solidFill>
          <a:ln w="12700">
            <a:solidFill>
              <a:srgbClr val="2B7A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431596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7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적절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6208" y="187452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0482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 B — 동아리 뒷풀이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2395728"/>
            <a:ext cx="3749040" cy="384048"/>
          </a:xfrm>
          <a:prstGeom prst="roundRect">
            <a:avLst>
              <a:gd name="adj" fmla="val 19048"/>
            </a:avLst>
          </a:prstGeom>
          <a:solidFill>
            <a:srgbClr val="F0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23957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금요일 뒷풀이 어디로 할까?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63840" y="2871216"/>
            <a:ext cx="3749040" cy="384048"/>
          </a:xfrm>
          <a:prstGeom prst="roundRect">
            <a:avLst>
              <a:gd name="adj" fmla="val 19048"/>
            </a:avLst>
          </a:prstGeom>
          <a:solidFill>
            <a:srgbClr val="F0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91856" y="28712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앞 고깃집 어때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34381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보내려는 문장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92240" y="3694176"/>
            <a:ext cx="4882896" cy="457200"/>
          </a:xfrm>
          <a:prstGeom prst="roundRect">
            <a:avLst>
              <a:gd name="adj" fmla="val 16000"/>
            </a:avLst>
          </a:prstGeom>
          <a:solidFill>
            <a:srgbClr val="FBF1E4"/>
          </a:solidFill>
          <a:ln w="16510">
            <a:solidFill>
              <a:srgbClr val="C976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38544" y="3694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"롤백 절차도 같이 봐주세요"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4315968"/>
            <a:ext cx="4882896" cy="438912"/>
          </a:xfrm>
          <a:prstGeom prst="roundRect">
            <a:avLst>
              <a:gd name="adj" fmla="val 12500"/>
            </a:avLst>
          </a:prstGeom>
          <a:solidFill>
            <a:srgbClr val="FBECEA"/>
          </a:solidFill>
          <a:ln w="12700">
            <a:solidFill>
              <a:srgbClr val="AA40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8544" y="431596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4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부적절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769864" y="3703320"/>
            <a:ext cx="457200" cy="45720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9864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6928" y="51206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2486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보낼 문장이 완전히 같으므로, 그 문장만 보고는 라벨을 알 수 없습니다.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41248" y="5541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 응답 500개 전원을 이런 식으로 배치했습니다. 그래서 응답만 보는 기준선이 정확히 0.500 — 찍기 수준이 됩니다. 여기서 성능이 나온다면 그건 앞 대화를 읽었다는 뜻입니다.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세팅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T4 · 5-fold 교차검증 · 총 학습 5회 · 약 23분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04825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MAX_LEN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8096" y="237744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68096" y="3072384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토큰 최대 117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전량 수용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204825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84448" y="237744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584448" y="3072384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 메모리 기준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현실적 상한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99632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04825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5e-5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400800" y="3072384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파인튜닝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범위 상단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15984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7152" y="204825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EPOCHS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17152" y="237744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217152" y="3072384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loss 최저점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실측으로 결정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38404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0050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Loss Function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42611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CrossEntropyLoss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41248" y="462686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적절 / 부적절 이진 분류이므로 num_labels=2 로 두고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 엔트로피를 사용했습니다.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3840480"/>
            <a:ext cx="54132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55664" y="402336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설정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55664" y="43525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0" y="43525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AdamW (weight_decay 0.01)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55664" y="46085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63840" y="46085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linear + warmup 10%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55664" y="48646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 clip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3840" y="48646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" y="5376672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E9F5F2"/>
          </a:solidFill>
          <a:ln w="9525">
            <a:solidFill>
              <a:srgbClr val="E9F5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55046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전략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194560" y="55046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StratifiedGroupKFold(5) · 그룹 기준 = pair_id — 같은 짝이 학습과 검증에 갈라지지 않게 묶었습니다. 짝의 반쪽을 본 모델이 나머지를 맞히면 점수가 부풀려지기 때문입니다.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어떻게 쟀나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하나로 끝내지 않았습니다. 네 가지를 따로 쟀습니다.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440680" cy="1719072"/>
          </a:xfrm>
          <a:prstGeom prst="roundRect">
            <a:avLst>
              <a:gd name="adj" fmla="val 4255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1226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075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교차검증 (OOF)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07408" y="2075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일반화되는가?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71600" y="244144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테스트셋을 두기에 데이터가 적어, 교차검증의 fold 밖 예측(OOF)이 그 역할을 한다.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그룹은 pair_id 단위로 묶어 짝이 갈라지지 않게 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0216" y="1874520"/>
            <a:ext cx="5440680" cy="1719072"/>
          </a:xfrm>
          <a:prstGeom prst="roundRect">
            <a:avLst>
              <a:gd name="adj" fmla="val 4255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56248" y="2112264"/>
            <a:ext cx="402336" cy="402336"/>
          </a:xfrm>
          <a:prstGeom prst="ellipse">
            <a:avLst/>
          </a:prstGeom>
          <a:solidFill>
            <a:srgbClr val="C9761D"/>
          </a:solidFill>
          <a:ln w="12700">
            <a:solidFill>
              <a:srgbClr val="C976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04888" y="2075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절제 실험 (ablation)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140696" y="2075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보고 판단하는가?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04888" y="244144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응답은 고정하고 문맥만 교체(swapped)하거나 삭제(empty)한 뒤 다시 잰다.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성능이 무너지면 성능의 출처가 문맥이라는 뜻이다.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794760"/>
            <a:ext cx="5440680" cy="1719072"/>
          </a:xfrm>
          <a:prstGeom prst="roundRect">
            <a:avLst>
              <a:gd name="adj" fmla="val 4255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03250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032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3995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대조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07408" y="3995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만큼 나은가?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71600" y="436168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TF-IDF 단독, 어휘+격식 규칙 기반과 같은 데이터에서 비교한다.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기반을 못 이기면 모델을 쓸 이유가 없다.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0216" y="3794760"/>
            <a:ext cx="5440680" cy="1719072"/>
          </a:xfrm>
          <a:prstGeom prst="roundRect">
            <a:avLst>
              <a:gd name="adj" fmla="val 4255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56248" y="403250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4032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04888" y="3995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threshold sweep · 기저율 보정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40696" y="3995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쓸 수 있는가?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04888" y="436168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임계값을 0.05~0.99로 훑으며 precision·recall·팝업률을 기록하고,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 오발송 비율을 가정해 precision을 다시 계산한다.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5742432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742432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2번이 이 프로젝트의 핵심 지표입니다. 정확도는 데이터가 쉬우면 올라가지만, 절제 실험 하락폭은 모델이 무엇을 보고 있는지를 말해줍니다.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평가 데이터는 두 종류입니다 — 학습 1,000행(5-fold OOF)과 독립 평가셋 100행. 한 슬라이드 안에서 두 출처를 섞지 않습니다.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평가했나 — 절제 실험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정확도만으로는 '문맥을 읽었다'를 증명할 수 없습니다. 문맥을 빼고 다시 재봤습니다.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6400800" cy="3977640"/>
          </a:xfrm>
          <a:prstGeom prst="roundRect">
            <a:avLst>
              <a:gd name="adj" fmla="val 1839"/>
            </a:avLst>
          </a:prstGeom>
          <a:solidFill>
            <a:srgbClr val="FAFBFD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3790188"/>
            <a:ext cx="5230368" cy="0"/>
          </a:xfrm>
          <a:prstGeom prst="line">
            <a:avLst/>
          </a:prstGeom>
          <a:noFill/>
          <a:ln w="12700">
            <a:solidFill>
              <a:srgbClr val="9AA2A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04672" y="366217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27632" y="2835280"/>
            <a:ext cx="1207008" cy="2303648"/>
          </a:xfrm>
          <a:prstGeom prst="roundRect">
            <a:avLst>
              <a:gd name="adj" fmla="val 3030"/>
            </a:avLst>
          </a:prstGeom>
          <a:solidFill>
            <a:srgbClr val="2B7A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45123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7A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0.854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89888" y="523036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89888" y="546811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3873810"/>
            <a:ext cx="1207008" cy="1265118"/>
          </a:xfrm>
          <a:prstGeom prst="roundRect">
            <a:avLst>
              <a:gd name="adj" fmla="val 3030"/>
            </a:avLst>
          </a:prstGeom>
          <a:solidFill>
            <a:srgbClr val="AA40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2968" y="348976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A4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0.469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99816" y="523036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swapped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99816" y="546811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문맥만 교체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47488" y="3830650"/>
            <a:ext cx="1207008" cy="1308278"/>
          </a:xfrm>
          <a:prstGeom prst="roundRect">
            <a:avLst>
              <a:gd name="adj" fmla="val 3030"/>
            </a:avLst>
          </a:prstGeom>
          <a:solidFill>
            <a:srgbClr val="AA40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344660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A4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0.485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09744" y="523036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9744" y="546811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삭제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0482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교차검증 OOF 정확도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023360" y="20482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= 0.5 (찍기 수준)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23760" y="1874520"/>
            <a:ext cx="4407408" cy="1828800"/>
          </a:xfrm>
          <a:prstGeom prst="roundRect">
            <a:avLst>
              <a:gd name="adj" fmla="val 4000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61504" y="2048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한 실험인가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61504" y="237744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A5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보낼 메시지는 하나도 바꾸지 않고, 앞 대화만 다른 방의 것으로 바꿔치기하거나 아예 지운 뒤 같은 모델로 다시 판정했습니다.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61504" y="31638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하락폭  +0.385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223760" y="3840480"/>
            <a:ext cx="4407408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61504" y="4023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61504" y="431596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문맥을 건드리면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찍기 수준으로 무너진다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61504" y="51023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응답은 그대로인데 성능이 사라졌습니다. 성능의 출처가 응답의 말투가 아니라 문맥이라는 직접 증거입니다.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학습 1,000행 5-fold 교차검증 OOF 기준. 독립 평가셋 100행에서도 같은 방향으로 재현됩니다 — 문맥 교체 시 AUC −0.362 · 정확도 −0.450.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대조와 운영 임계값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기반보다 얼마나 나은가, 그리고 어디까지 믿을 수 있나.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806440" cy="2514600"/>
          </a:xfrm>
          <a:prstGeom prst="roundRect">
            <a:avLst>
              <a:gd name="adj" fmla="val 2909"/>
            </a:avLst>
          </a:prstGeom>
          <a:solidFill>
            <a:srgbClr val="FAFBFD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29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대조 (같은 1,000행)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3408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history-only (TF-IDF)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0" y="2386584"/>
            <a:ext cx="914034" cy="182880"/>
          </a:xfrm>
          <a:prstGeom prst="roundRect">
            <a:avLst>
              <a:gd name="adj" fmla="val 15000"/>
            </a:avLst>
          </a:prstGeom>
          <a:solidFill>
            <a:srgbClr val="9AA2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386" y="23408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0.294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7066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response-only (TF-IDF)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0" y="2752344"/>
            <a:ext cx="1215603" cy="182880"/>
          </a:xfrm>
          <a:prstGeom prst="roundRect">
            <a:avLst>
              <a:gd name="adj" fmla="val 15000"/>
            </a:avLst>
          </a:prstGeom>
          <a:solidFill>
            <a:srgbClr val="9AA2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31955" y="27066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0.391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30723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제거한 우리 모델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0" y="3118104"/>
            <a:ext cx="1507846" cy="182880"/>
          </a:xfrm>
          <a:prstGeom prst="roundRect">
            <a:avLst>
              <a:gd name="adj" fmla="val 15000"/>
            </a:avLst>
          </a:prstGeom>
          <a:solidFill>
            <a:srgbClr val="9AA2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4198" y="307238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0.485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34381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어휘 + 격식 규칙 기반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0" y="3483864"/>
            <a:ext cx="2253996" cy="182880"/>
          </a:xfrm>
          <a:prstGeom prst="roundRect">
            <a:avLst>
              <a:gd name="adj" fmla="val 15000"/>
            </a:avLst>
          </a:prstGeom>
          <a:solidFill>
            <a:srgbClr val="2B3A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0348" y="34381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38039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A.X-Encoder (제안)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3849624"/>
            <a:ext cx="2655052" cy="182880"/>
          </a:xfrm>
          <a:prstGeom prst="roundRect">
            <a:avLst>
              <a:gd name="adj" fmla="val 15000"/>
            </a:avLst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71404" y="380390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0.854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3968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대비  +0.129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29400" y="1874520"/>
            <a:ext cx="500176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67144" y="2029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임계값 선택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12864" y="23591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58200" y="23591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0" y="235915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625328" y="235915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12864" y="27249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 (F1 최대)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58200" y="27249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0.850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01200" y="27249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0.860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625328" y="272491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84848" y="3072384"/>
            <a:ext cx="4700016" cy="347472"/>
          </a:xfrm>
          <a:prstGeom prst="roundRect">
            <a:avLst>
              <a:gd name="adj" fmla="val 10526"/>
            </a:avLst>
          </a:prstGeom>
          <a:solidFill>
            <a:srgbClr val="FBF1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12864" y="30906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0.70 (채택)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58200" y="30906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0.882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0" y="30906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0.776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625328" y="309067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0.440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12864" y="34564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58200" y="34564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0.921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601200" y="34564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0.582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625328" y="345643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0.316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67144" y="3895344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 최대점을 쓰지 않은 이유 — F1은 놓침과 오탐을 동등하게 봅니다. 저희는 오탐 비용이 훨씬 큽니다.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" y="46177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" y="47914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 대신 0.70 을 고른다는 것은 — 놓침 8%를 오탐 3%와 바꾼다는 뜻입니다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41248" y="51755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892808" y="51755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0.860 → 0.776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41248" y="54498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오발송을 8%p 더 놓친다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453128" y="51755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504688" y="51755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0.850 → 0.882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453128" y="54498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경고가 맞을 확률이 3%p 오른다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065008" y="51755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팝업률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116568" y="51755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0.506 → 0.440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065008" y="54498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4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 자체가 13% 줄어든다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왼쪽·오른쪽 모두 학습 1,000행 5-fold OOF 기준. 임계값 sweep도 같은 데이터에서 산출했으므로 0.7의 근거는 이 표에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본론 · AI 모델링 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— 먼저 말씀드립니다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성능을 어디까지 믿을 수 있는지가, 성능을 올리는 것보다 먼저입니다.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30552"/>
            <a:ext cx="402336" cy="402336"/>
          </a:xfrm>
          <a:prstGeom prst="ellipse">
            <a:avLst/>
          </a:prstGeom>
          <a:solidFill>
            <a:srgbClr val="8A929E"/>
          </a:solidFill>
          <a:ln w="12700">
            <a:solidFill>
              <a:srgbClr val="8A92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89888" y="20756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평가셋이 작다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89120" y="2112264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8A92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112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89888" y="244144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적절 50건에서 오탐이 0건이었지만, 0/50 의 95% 신뢰 상한은 0.06 이다.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표본은 좋은 결과를 실제보다 크게 보이게 한다.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89520" y="2075688"/>
            <a:ext cx="37856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2185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238658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3단계 테스트셋 v4(200행) 구축 완료 — 인코더 평가 예정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3264408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520440"/>
            <a:ext cx="402336" cy="402336"/>
          </a:xfrm>
          <a:prstGeom prst="ellipse">
            <a:avLst/>
          </a:prstGeom>
          <a:solidFill>
            <a:srgbClr val="AA4034"/>
          </a:solidFill>
          <a:ln w="12700">
            <a:solidFill>
              <a:srgbClr val="AA40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89888" y="34655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 기저율을 모른다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89120" y="350215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AA40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3502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미확정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389888" y="383133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55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데이터는 적절·부적절이 50:50 이지만 실제 채팅에서 오발송은 훨씬 드물다.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55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오발송이 전체의 1% 라면 같은 모델도 precision 이 0.14 까지 떨어진다.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3465576"/>
            <a:ext cx="37856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A40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35753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4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377647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로그의 보내기/취소 선택으로 실측 — 이 프로젝트의 진짜 병목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654296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" y="4910328"/>
            <a:ext cx="402336" cy="402336"/>
          </a:xfrm>
          <a:prstGeom prst="ellipse">
            <a:avLst/>
          </a:prstGeom>
          <a:solidFill>
            <a:srgbClr val="8A929E"/>
          </a:solidFill>
          <a:ln w="12700">
            <a:solidFill>
              <a:srgbClr val="8A92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4910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89888" y="48554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범위가 좁다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4389120" y="489204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8A92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4892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cross-room 만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389888" y="522122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'방을 착각한 전송'만 다룬다. 같은 방 안에서 날짜·대상이 어긋나는 경우는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데이터에 없어서 못 잡는다 (4건 중 0건 탐지).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589520" y="4855464"/>
            <a:ext cx="37856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49651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516636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C4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방 안 사실 모순 데이터를 별도 설계 — 오발송 탐지와 별개 능력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6089904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608990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모두 "측정하지 못한 것"이지 "측정해보니 나빴던 것"이 아닙니다. 그래서 다음 단계가 성능 개선이 아니라 측정입니다.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결론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01168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0.854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68096" y="27066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교차검증 정확도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298094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0.725 대비 +0.129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201168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+0.385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584448" y="27066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절제 시 하락폭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84448" y="298094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문맥을 읽는다는 직접 증거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99632" y="182880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01168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538ms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400800" y="27066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지연 (p50)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98094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 예산 4초의 13%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15984" y="182880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7152" y="201168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217152" y="27066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전송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17152" y="298094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내용이 서버 밖으로 나가지 않음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370332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3886200"/>
            <a:ext cx="310896" cy="310896"/>
          </a:xfrm>
          <a:prstGeom prst="ellipse">
            <a:avLst/>
          </a:prstGeom>
          <a:solidFill>
            <a:srgbClr val="2B7A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389534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웹앱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" y="4334256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· 친구 · 방 생성 · 실시간 전송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팝업 · 강행 전송 · 검증 배지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70332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84448" y="3886200"/>
            <a:ext cx="310896" cy="310896"/>
          </a:xfrm>
          <a:prstGeom prst="ellipse">
            <a:avLst/>
          </a:prstGeom>
          <a:solidFill>
            <a:srgbClr val="2B7A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86784" y="389534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84448" y="4334256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1,000행 + 평가 300행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누출 검사 전 항목 통과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9632" y="370332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3886200"/>
            <a:ext cx="310896" cy="310896"/>
          </a:xfrm>
          <a:prstGeom prst="ellipse">
            <a:avLst/>
          </a:prstGeom>
          <a:solidFill>
            <a:srgbClr val="2B7A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03136" y="389534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모델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4334256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A.X-Encoder 파인튜닝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3종 교체 가능 구조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015984" y="370332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17152" y="3886200"/>
            <a:ext cx="310896" cy="310896"/>
          </a:xfrm>
          <a:prstGeom prst="ellipse">
            <a:avLst/>
          </a:prstGeom>
          <a:solidFill>
            <a:srgbClr val="2B7A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17152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619488" y="389534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217152" y="4334256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355건 · 프론트엔드 147건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통과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정확도·하락폭은 학습 1,000행 5-fold 교차검증 OOF 기준. 지연은 단일 요청 p50 실측(배치 32 처리량은 512ms).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결론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 계획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급한 것은 성능을 올리는 일이 아니라, 지금 성능을 제대로 아는 일입니다.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440680" cy="1664208"/>
          </a:xfrm>
          <a:prstGeom prst="roundRect">
            <a:avLst>
              <a:gd name="adj" fmla="val 4396"/>
            </a:avLst>
          </a:prstGeom>
          <a:solidFill>
            <a:srgbClr val="FBF1E4"/>
          </a:solidFill>
          <a:ln w="9525">
            <a:solidFill>
              <a:srgbClr val="FBF1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30552"/>
            <a:ext cx="420624" cy="420624"/>
          </a:xfrm>
          <a:prstGeom prst="ellipse">
            <a:avLst/>
          </a:prstGeom>
          <a:solidFill>
            <a:srgbClr val="C9761D"/>
          </a:solidFill>
          <a:ln w="12700">
            <a:solidFill>
              <a:srgbClr val="C976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21122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 기저율 확정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91456" y="2130552"/>
            <a:ext cx="960120" cy="292608"/>
          </a:xfrm>
          <a:prstGeom prst="roundRect">
            <a:avLst>
              <a:gd name="adj" fmla="val 15625"/>
            </a:avLst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213055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최우선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89888" y="253288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로그의 '보내기 / 취소' 선택을 모아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오발송 비율을 측정하고 임계값을 다시 정한다.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0216" y="1874520"/>
            <a:ext cx="5440680" cy="1664208"/>
          </a:xfrm>
          <a:prstGeom prst="roundRect">
            <a:avLst>
              <a:gd name="adj" fmla="val 4396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56248" y="2130552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23176" y="21122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 확대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524744" y="2130552"/>
            <a:ext cx="960120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24744" y="213055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23176" y="253288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3단계로 나눈 테스트셋 v4(200행)를 만들었다.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어휘 겹침만으로는 못 푸는 hard 구간을 포함한다.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749040"/>
            <a:ext cx="5440680" cy="1664208"/>
          </a:xfrm>
          <a:prstGeom prst="roundRect">
            <a:avLst>
              <a:gd name="adj" fmla="val 4396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005072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89888" y="39867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범위 확장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91456" y="4005072"/>
            <a:ext cx="960120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456" y="400507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389888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방 안의 날짜·대상 불일치는 지금 못 잡는다.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오발송 탐지와는 별개 능력이라 데이터부터 설계한다.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0216" y="3749040"/>
            <a:ext cx="5440680" cy="1664208"/>
          </a:xfrm>
          <a:prstGeom prst="roundRect">
            <a:avLst>
              <a:gd name="adj" fmla="val 4396"/>
            </a:avLst>
          </a:prstGeom>
          <a:solidFill>
            <a:srgbClr val="EDF2FC"/>
          </a:solidFill>
          <a:ln w="9525">
            <a:solidFill>
              <a:srgbClr val="EDF2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56248" y="4005072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56248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23176" y="39867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수평 확장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524744" y="4005072"/>
            <a:ext cx="960120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24744" y="400507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123176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연결 정보가 프로세스 메모리에 있어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서버를 늘릴 수 없다. Redis pub/sub 으로 옮긴다.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5596128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559612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로그 테이블을 첫날부터 만들어 둔 이유가 여기 있습니다. 사용자의 선택이 그대로 다음 평가 데이터가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859536" y="3401568"/>
            <a:ext cx="1371600" cy="0"/>
          </a:xfrm>
          <a:prstGeom prst="line">
            <a:avLst/>
          </a:prstGeom>
          <a:noFill/>
          <a:ln w="31750">
            <a:solidFill>
              <a:srgbClr val="C976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639312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career-jikimi — 채팅창을 착각해 잘못 보내는 메시지,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당신의 회사생활을 지켜드리겠습니다.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187452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1B2456"/>
          </a:solidFill>
          <a:ln w="12700">
            <a:solidFill>
              <a:srgbClr val="2B3A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21031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7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882128" y="2706624"/>
            <a:ext cx="91440" cy="91440"/>
          </a:xfrm>
          <a:prstGeom prst="ellipse">
            <a:avLst/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01584" y="2615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LLM이 아니라 인코더인가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82128" y="3255264"/>
            <a:ext cx="91440" cy="91440"/>
          </a:xfrm>
          <a:prstGeom prst="ellipse">
            <a:avLst/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01584" y="3163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왜 다시 만들었나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82128" y="3803904"/>
            <a:ext cx="91440" cy="91440"/>
          </a:xfrm>
          <a:prstGeom prst="ellipse">
            <a:avLst/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01584" y="3712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EPOCHS 4는 어떻게 정했나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82128" y="4352544"/>
            <a:ext cx="91440" cy="91440"/>
          </a:xfrm>
          <a:prstGeom prst="ellipse">
            <a:avLst/>
          </a:prstGeom>
          <a:solidFill>
            <a:srgbClr val="C976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1584" y="4261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실사용에서도 잘 되는가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2026-08-03T09:09:32Z</dcterms:created>
  <dcterms:modified xsi:type="dcterms:W3CDTF">2026-08-03T09:09:32Z</dcterms:modified>
</cp:coreProperties>
</file>