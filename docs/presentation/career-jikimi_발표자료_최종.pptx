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qNu0kIw7EtbPsk0weAvTcV7v8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career-jikimi 입니다. 채팅방을 착각해 엉뚱한 방에 메시지를 보낸 경험, 다들 있으실 겁니다. 그 메시지가 전송되기 전에 대화 문맥을 읽고 경고하는 시스템을 만들었습니다.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서론에서 왜 만들었는지, 본론에서 어떻게 만들었는지 — 특히 AI 모델링 중심으로, 결론에서 성과와 다음 계획을 말씀드리겠습니다.</a:t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핵심은 세 번째입니다. 메시지를 막지 않고 되묻기만 하며 최종 결정은 사용자가 합니다. recall보다 precision을 우선하는 원칙이 프로젝트 전체를 관통합니다.</a:t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여기서 시연 영상을 봅니다. 배포 이야기가 오가는 방에 사담을 넣으면 경고가 뜨고, 일반 업무 메시지는 지나갑니다. 세 번째 기능이 숨은 축입니다 — 사용자의 선택이 다음 평가 데이터가 됩니다.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4d030cd0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4d030cd0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64d030cd0_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4d030cd0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f64d030cd0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64d030cd0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nginx가 정적을 서빙하고 API·WebSocket을 FastAPI로 넘깁니다. 판정 백엔드를 인터페이스로 추상화해 환경변수 한 줄로 로컬 인코더와 GPT를 바꿔 낍니다. 세 가지를 같은 조건에서 비교하고 로컬 인코더를 택했습니다.</a:t>
            </a:r>
            <a:endParaRPr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4d030cd0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f64d030cd0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64d030cd0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출발점은 이게 어떤 문제인가였습니다. 생성이 아니라 적절/부적절 둘 중 하나라 인코더 분류기로 충분합니다. 두 번째가 결정적 — 채팅을 외부로 보내는 것 자체가 쓰기 꺼려지는 이유입니다.</a:t>
            </a:r>
            <a:endParaRPr/>
          </a:p>
        </p:txBody>
      </p:sp>
      <p:sp>
        <p:nvSpPr>
          <p:cNvPr id="326" name="Google Shape;3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64d030cd0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f64d030cd0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가장 자랑스러운 부분입니다. 100개를 직접 만들었더니 응답만 보고 93%를 맞혔습니다. v1 500행은 99%. 그래서 짝 구조로 다시 만들어 응답만 보는 성능을 찍기 수준 0.5로 내렸습니다. (response-only는 노트북 재현 시 0.391)</a:t>
            </a:r>
            <a:endParaRPr/>
          </a:p>
        </p:txBody>
      </p:sp>
      <p:sp>
        <p:nvSpPr>
          <p:cNvPr id="367" name="Google Shape;367;g3f64d030cd0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완전히 같은 문장입니다. 동기 단톡방에서는 일상 약속, 배포 채널에서는 사고입니다. 라벨이 문장이 아니라 문장과 방의 관계에 붙어 있어, 모델은 문맥을 읽지 않으면 점수를 낼 수 없습니다.</a:t>
            </a:r>
            <a:endParaRPr/>
          </a:p>
        </p:txBody>
      </p:sp>
      <p:sp>
        <p:nvSpPr>
          <p:cNvPr id="401" name="Google Shape;4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EPOCHS를 강조합니다. 관례가 아니라 16 epoch까지 돌려 검증 loss가 최저를 찍고 다시 올라가는 지점을 찾아 4로 확인했습니다. 분할 전략도 중요 — 짝을 통째로 묶지 않으면 답을 미리 본 셈입니다.</a:t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64b3a9967_1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f64b3a9967_1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평가를 네 질문으로 나눴습니다. 성능이 나오는가, 그게 문맥에서 나왔는가, 굳이 모델일 필요가 있었는가, 운영 임계값은 어디인가. 특히 Q2 절제 실험이 핵심 주장입니다.</a:t>
            </a:r>
            <a:endParaRPr/>
          </a:p>
        </p:txBody>
      </p:sp>
      <p:sp>
        <p:nvSpPr>
          <p:cNvPr id="479" name="Google Shape;479;g3f64b3a9967_1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64b3a9967_1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f64b3a9967_1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평가를 네 질문으로 나눴습니다. 성능이 나오는가, 그게 문맥에서 나왔는가, 굳이 모델일 필요가 있었는가, 운영 임계값은 어디인가. 특히 Q2 절제 실험이 핵심 주장입니다.</a:t>
            </a:r>
            <a:endParaRPr/>
          </a:p>
        </p:txBody>
      </p:sp>
      <p:sp>
        <p:nvSpPr>
          <p:cNvPr id="498" name="Google Shape;498;g3f64b3a9967_1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가장 중요한 장입니다. 0.854만으로는 문맥을 읽었는지 말투를 외웠는지 알 수 없습니다. 응답은 그대로 두고 앞 대화만 바꿔 다시 쟀더니 0.469로, 찍기보다 아래로 떨어졌습니다.</a:t>
            </a:r>
            <a:endParaRPr/>
          </a:p>
        </p:txBody>
      </p:sp>
      <p:sp>
        <p:nvSpPr>
          <p:cNvPr id="531" name="Google Shape;5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64b3a9967_1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64b3a9967_1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왼쪽 — 규칙 기반 대비 0.129 높습니다. TF-IDF가 찍기 아래인 것이 누출 없다는 증거입니다. 오른쪽 — 임계값은 F1 최대점이 아니라 0.7. 오탐 비용이 훨씬 크기 때문입니다. (시연 전 .env ENCODER_THRESHOLD=0.7 확인)</a:t>
            </a:r>
            <a:endParaRPr/>
          </a:p>
        </p:txBody>
      </p:sp>
      <p:sp>
        <p:nvSpPr>
          <p:cNvPr id="550" name="Google Shape;550;g3f64b3a9967_1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네 숫자로 정리했습니다. 가장 의미 있는 건 절제 하락폭 −0.385 — 모델이 무엇을 보고 있는지를 말해줍니다. 그리고 외부 전송 0건.</a:t>
            </a:r>
            <a:endParaRPr/>
          </a:p>
        </p:txBody>
      </p:sp>
      <p:sp>
        <p:nvSpPr>
          <p:cNvPr id="583" name="Google Shape;5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64d030cd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64d030cd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한계를 먼저 말씀드립니다. 평가셋 100행, 실사용 기저율 미확정, 범위가 좁음. 다만 범위 밖에서도 오탐 0건 — 모르면 조용히 통과하는, 원칙에 맞는 실패 방식입니다.</a:t>
            </a:r>
            <a:endParaRPr/>
          </a:p>
        </p:txBody>
      </p:sp>
      <p:sp>
        <p:nvSpPr>
          <p:cNvPr id="623" name="Google Shape;623;g3f64d030cd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64d030cd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f64d030cd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순서가 곧 우선순위입니다. 1번이 최우선인 이유는 지금 실사용 성능을 모르기 때문입니다. 그걸 알아내는 방법을 처음부터 설계에 넣었습니다 — 사용자의 선택이 정답 라벨이 됩니다.</a:t>
            </a:r>
            <a:endParaRPr/>
          </a:p>
        </p:txBody>
      </p:sp>
      <p:sp>
        <p:nvSpPr>
          <p:cNvPr id="656" name="Google Shape;656;g3f64d030cd0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감사합니다. 질문 받겠습니다.</a:t>
            </a:r>
            <a:endParaRPr/>
          </a:p>
        </p:txBody>
      </p:sp>
      <p:sp>
        <p:nvSpPr>
          <p:cNvPr id="695" name="Google Shape;6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tlHdRrpO5FXXgRjTZJmsluoT2obZ6hO-/view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tlHdRrpO5FXXgRjTZJmsluoT2obZ6hO-/view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1140135" y="0"/>
            <a:ext cx="1051500" cy="6858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26999" y="2494049"/>
            <a:ext cx="402000" cy="402000"/>
          </a:xfrm>
          <a:prstGeom prst="roundRect">
            <a:avLst>
              <a:gd fmla="val 18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66925" y="1874525"/>
            <a:ext cx="4873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0E8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AFC0E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 불일치 메시지 사전 경고 시스템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5" y="2286004"/>
            <a:ext cx="5482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Malgun Gothic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5" y="3429003"/>
            <a:ext cx="5178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741"/>
              </a:lnSpc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550"/>
              <a:buFont typeface="Malgun Gothic"/>
              <a:buNone/>
            </a:pPr>
            <a:r>
              <a:rPr b="0" i="0" lang="en-US" sz="1550" u="none" cap="none" strike="noStrike">
                <a:solidFill>
                  <a:srgbClr val="C9D3E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작은 실수로부터,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7741"/>
              </a:lnSpc>
              <a:spcBef>
                <a:spcPts val="0"/>
              </a:spcBef>
              <a:spcAft>
                <a:spcPts val="0"/>
              </a:spcAft>
              <a:buClr>
                <a:srgbClr val="C9D3EA"/>
              </a:buClr>
              <a:buSzPts val="1550"/>
              <a:buFont typeface="Malgun Gothic"/>
              <a:buNone/>
            </a:pPr>
            <a:r>
              <a:rPr b="0" i="0" lang="en-US" sz="1550" u="none" cap="none" strike="noStrike">
                <a:solidFill>
                  <a:srgbClr val="C9D3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당신의 사회생활을 지켜드리겠습니다.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566925" y="4892041"/>
            <a:ext cx="2866500" cy="0"/>
          </a:xfrm>
          <a:prstGeom prst="straightConnector1">
            <a:avLst/>
          </a:prstGeom>
          <a:noFill/>
          <a:ln cap="flat" cmpd="sng" w="12700">
            <a:solidFill>
              <a:srgbClr val="3A45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566925" y="5029200"/>
            <a:ext cx="5482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4AE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894AE"/>
                </a:solidFill>
                <a:latin typeface="Malgun Gothic"/>
                <a:ea typeface="Malgun Gothic"/>
                <a:cs typeface="Malgun Gothic"/>
                <a:sym typeface="Malgun Gothic"/>
              </a:rPr>
              <a:t>Bomb-pod   ·   팀장 김지환   ·   팀원 김연희   ·   2026. 08.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oogle Shape;23;p1"/>
          <p:cNvGrpSpPr/>
          <p:nvPr/>
        </p:nvGrpSpPr>
        <p:grpSpPr>
          <a:xfrm rot="-1279296">
            <a:off x="5617447" y="1527790"/>
            <a:ext cx="5573947" cy="3556051"/>
            <a:chOff x="5237419" y="1622544"/>
            <a:chExt cx="5258694" cy="3354927"/>
          </a:xfrm>
        </p:grpSpPr>
        <p:sp>
          <p:nvSpPr>
            <p:cNvPr id="24" name="Google Shape;24;p1"/>
            <p:cNvSpPr/>
            <p:nvPr/>
          </p:nvSpPr>
          <p:spPr>
            <a:xfrm rot="1276357">
              <a:off x="5422860" y="2369439"/>
              <a:ext cx="4466850" cy="1861136"/>
            </a:xfrm>
            <a:prstGeom prst="roundRect">
              <a:avLst>
                <a:gd fmla="val 7042" name="adj"/>
              </a:avLst>
            </a:prstGeom>
            <a:solidFill>
              <a:schemeClr val="lt1"/>
            </a:solidFill>
            <a:ln cap="flat" cmpd="sng" w="231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8950" lIns="138950" spcFirstLastPara="1" rIns="138950" wrap="square" tIns="13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4"/>
                <a:buFont typeface="Arial"/>
                <a:buNone/>
              </a:pPr>
              <a:r>
                <a:t/>
              </a:r>
              <a:endParaRPr b="0" i="0" sz="14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 rot="1275667">
              <a:off x="5962042" y="2048191"/>
              <a:ext cx="419449" cy="419449"/>
            </a:xfrm>
            <a:prstGeom prst="ellipse">
              <a:avLst/>
            </a:prstGeom>
            <a:solidFill>
              <a:srgbClr val="FF0000"/>
            </a:solidFill>
            <a:ln cap="flat" cmpd="sng" w="19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8950" lIns="138950" spcFirstLastPara="1" rIns="138950" wrap="square" tIns="13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4"/>
                <a:buFont typeface="Arial"/>
                <a:buNone/>
              </a:pPr>
              <a:r>
                <a:t/>
              </a:r>
              <a:endParaRPr b="0" i="0" sz="14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 rot="1276977">
              <a:off x="6020863" y="2048228"/>
              <a:ext cx="301674" cy="419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80"/>
                <a:buFont typeface="Malgun Gothic"/>
                <a:buNone/>
              </a:pPr>
              <a:r>
                <a:rPr b="1" i="0" lang="en-US" sz="228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!</a:t>
              </a:r>
              <a:endParaRPr b="0" i="0" sz="228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 rot="1276354">
              <a:off x="6377627" y="2914927"/>
              <a:ext cx="4194814" cy="367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4A12"/>
                </a:buClr>
                <a:buSzPts val="1671"/>
                <a:buFont typeface="Malgun Gothic"/>
                <a:buNone/>
              </a:pPr>
              <a:r>
                <a:rPr b="1" i="0" lang="en-US" sz="1671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방에 맞지 않는 것 같습니다.</a:t>
              </a:r>
              <a:endParaRPr b="0" i="0" sz="167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 rot="1276354">
              <a:off x="6258773" y="3233427"/>
              <a:ext cx="4194814" cy="340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A6520"/>
                </a:buClr>
                <a:buSzPts val="1520"/>
                <a:buFont typeface="Malgun Gothic"/>
                <a:buNone/>
              </a:pPr>
              <a:r>
                <a:rPr b="0" i="0" lang="en-US" sz="152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그래도 보낼까요?</a:t>
              </a:r>
              <a:endParaRPr b="0" i="0" sz="15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 rot="1276199">
              <a:off x="5979059" y="3140553"/>
              <a:ext cx="1507595" cy="47198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300">
              <a:solidFill>
                <a:srgbClr val="2B34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8950" lIns="138950" spcFirstLastPara="1" rIns="138950" wrap="square" tIns="13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4"/>
                <a:buFont typeface="Arial"/>
                <a:buNone/>
              </a:pPr>
              <a:r>
                <a:t/>
              </a:r>
              <a:endParaRPr b="0" i="0" sz="14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 rot="1276361">
              <a:off x="6111034" y="3140569"/>
              <a:ext cx="1243636" cy="471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4A12"/>
                </a:buClr>
                <a:buSzPts val="1520"/>
                <a:buFont typeface="Malgun Gothic"/>
                <a:buNone/>
              </a:pPr>
              <a:r>
                <a:rPr b="0" i="0" lang="en-US" sz="152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5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 rot="1276199">
              <a:off x="7530394" y="3744555"/>
              <a:ext cx="1507595" cy="471983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8950" lIns="138950" spcFirstLastPara="1" rIns="138950" wrap="square" tIns="138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8"/>
                <a:buFont typeface="Arial"/>
                <a:buNone/>
              </a:pPr>
              <a:r>
                <a:t/>
              </a:r>
              <a:endParaRPr b="0" i="0" sz="21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 rot="1276206">
              <a:off x="7716381" y="3744519"/>
              <a:ext cx="1135446" cy="471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20"/>
                <a:buFont typeface="Malgun Gothic"/>
                <a:buNone/>
              </a:pPr>
              <a:r>
                <a:rPr b="1" i="0" lang="en-US" sz="152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보내기</a:t>
              </a:r>
              <a:endParaRPr b="0" i="0" sz="15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66928" y="2286000"/>
            <a:ext cx="3401568" cy="3383280"/>
          </a:xfrm>
          <a:prstGeom prst="roundRect">
            <a:avLst>
              <a:gd fmla="val 2432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86968" y="2670048"/>
            <a:ext cx="566928" cy="566928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86968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86968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591056" y="2743200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886968" y="3493008"/>
            <a:ext cx="2761488" cy="0"/>
          </a:xfrm>
          <a:prstGeom prst="straightConnector1">
            <a:avLst/>
          </a:prstGeom>
          <a:noFill/>
          <a:ln cap="flat" cmpd="sng" w="12700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932688" y="378561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33856" y="370332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배경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32688" y="433425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33856" y="425196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소개 · 시연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32688" y="488289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33856" y="480060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WBS · 역할 분담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52544" y="2286000"/>
            <a:ext cx="3401568" cy="3383280"/>
          </a:xfrm>
          <a:prstGeom prst="roundRect">
            <a:avLst>
              <a:gd fmla="val 2432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672584" y="2670048"/>
            <a:ext cx="566928" cy="566928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672584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672584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76672" y="2743200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4672584" y="3493008"/>
            <a:ext cx="2761488" cy="0"/>
          </a:xfrm>
          <a:prstGeom prst="straightConnector1">
            <a:avLst/>
          </a:prstGeom>
          <a:noFill/>
          <a:ln cap="flat" cmpd="sng" w="12700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4718304" y="378561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919472" y="370332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/ 기술스택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18304" y="433425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19472" y="425196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모델링 전체 흐름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18304" y="488289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919472" y="480060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모델 · ② 데이터 · ③ 평가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138160" y="2286000"/>
            <a:ext cx="3401568" cy="3383280"/>
          </a:xfrm>
          <a:prstGeom prst="roundRect">
            <a:avLst>
              <a:gd fmla="val 2432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458200" y="2670048"/>
            <a:ext cx="566928" cy="566928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458200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458200" y="26700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162288" y="2743200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8458200" y="3493008"/>
            <a:ext cx="2761488" cy="0"/>
          </a:xfrm>
          <a:prstGeom prst="straightConnector1">
            <a:avLst/>
          </a:prstGeom>
          <a:noFill/>
          <a:ln cap="flat" cmpd="sng" w="12700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2"/>
          <p:cNvSpPr/>
          <p:nvPr/>
        </p:nvSpPr>
        <p:spPr>
          <a:xfrm>
            <a:off x="8503920" y="378561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705088" y="370332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정리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503920" y="433425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705088" y="425196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 계획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503920" y="4882896"/>
            <a:ext cx="73152" cy="73152"/>
          </a:xfrm>
          <a:prstGeom prst="ellipse">
            <a:avLst/>
          </a:prstGeom>
          <a:solidFill>
            <a:srgbClr val="5C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705088" y="4800600"/>
            <a:ext cx="257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2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서론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66928" y="2331720"/>
            <a:ext cx="11064240" cy="1188720"/>
          </a:xfrm>
          <a:prstGeom prst="roundRect">
            <a:avLst>
              <a:gd fmla="val 6923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77824" y="2706624"/>
            <a:ext cx="438912" cy="438912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77824" y="27066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499616" y="251460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499624" y="2825500"/>
            <a:ext cx="4401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부담</a:t>
            </a:r>
            <a:r>
              <a:rPr b="1" i="0" lang="en-US" sz="16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큰</a:t>
            </a:r>
            <a:r>
              <a:rPr b="1" i="0" lang="en-US" sz="16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사회적 비용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693408" y="25146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업무방에 잘못 보내는 개인 메시지 — 한 번의 실수로도 곤란해집니다.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66928" y="3685032"/>
            <a:ext cx="11064240" cy="1188720"/>
          </a:xfrm>
          <a:prstGeom prst="roundRect">
            <a:avLst>
              <a:gd fmla="val 6923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77824" y="4059936"/>
            <a:ext cx="438912" cy="438912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77824" y="40599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499616" y="386791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대안의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499616" y="4178808"/>
            <a:ext cx="4846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전송 취소</a:t>
            </a:r>
            <a:r>
              <a:rPr b="1" lang="en-US" sz="1650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b="1" i="0" lang="en-US" sz="16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답이 아니다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693408" y="3867912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상대가 확인한 뒤</a:t>
            </a:r>
            <a:r>
              <a:rPr lang="en-US" sz="12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취소도</a:t>
            </a: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소용</a:t>
            </a:r>
            <a:r>
              <a:rPr lang="en-US" sz="12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66928" y="5038344"/>
            <a:ext cx="11064240" cy="1188720"/>
          </a:xfrm>
          <a:prstGeom prst="roundRect">
            <a:avLst>
              <a:gd fmla="val 6923" name="adj"/>
            </a:avLst>
          </a:prstGeom>
          <a:solidFill>
            <a:srgbClr val="E4EBF9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77824" y="5413248"/>
            <a:ext cx="438912" cy="438912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77824" y="54132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499616" y="52212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우리의 접근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499616" y="5532120"/>
            <a:ext cx="4846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650"/>
              <a:buFont typeface="Malgun Gothic"/>
              <a:buNone/>
            </a:pPr>
            <a:r>
              <a:rPr b="1" lang="en-US" sz="1650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 차단!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93408" y="5221224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문맥을 분석해 어울리지 않는 메시지</a:t>
            </a:r>
            <a:r>
              <a:rPr lang="en-US" sz="12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전송 전에 차단합니다.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3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3"/>
          <p:cNvCxnSpPr/>
          <p:nvPr/>
        </p:nvCxnSpPr>
        <p:spPr>
          <a:xfrm>
            <a:off x="6102100" y="4054500"/>
            <a:ext cx="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3"/>
          <p:cNvCxnSpPr/>
          <p:nvPr/>
        </p:nvCxnSpPr>
        <p:spPr>
          <a:xfrm>
            <a:off x="6102100" y="2710475"/>
            <a:ext cx="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3"/>
          <p:cNvCxnSpPr/>
          <p:nvPr/>
        </p:nvCxnSpPr>
        <p:spPr>
          <a:xfrm>
            <a:off x="6102100" y="5416263"/>
            <a:ext cx="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서론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소개 · 시연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66928" y="2286000"/>
            <a:ext cx="5212080" cy="3703320"/>
          </a:xfrm>
          <a:prstGeom prst="roundRect">
            <a:avLst>
              <a:gd fmla="val 1481" name="adj"/>
            </a:avLst>
          </a:prstGeom>
          <a:solidFill>
            <a:srgbClr val="EDEFF4"/>
          </a:solidFill>
          <a:ln cap="flat" cmpd="sng" w="15875">
            <a:solidFill>
              <a:srgbClr val="C3CCD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807208" y="3634740"/>
            <a:ext cx="731520" cy="73152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807208" y="3680460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4768" y="2286000"/>
            <a:ext cx="5212080" cy="1133856"/>
          </a:xfrm>
          <a:prstGeom prst="roundRect">
            <a:avLst>
              <a:gd fmla="val 7258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19088" y="2542032"/>
            <a:ext cx="420624" cy="420624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419088" y="25420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004304" y="24688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lang="en-US" sz="1500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채팅어플 구현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004304" y="2834640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개발을 위해 </a:t>
            </a:r>
            <a:r>
              <a:rPr b="0" i="0" lang="en-US" sz="11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WebSocket</a:t>
            </a:r>
            <a:r>
              <a:rPr lang="en-US" sz="11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활용한 채팅어플을 구현했습니다.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44768" y="3566160"/>
            <a:ext cx="5212080" cy="1133856"/>
          </a:xfrm>
          <a:prstGeom prst="roundRect">
            <a:avLst>
              <a:gd fmla="val 7258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419088" y="3822192"/>
            <a:ext cx="420624" cy="420624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419088" y="3822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004304" y="37490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전송 전 문맥 판정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004304" y="4114800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대화 10개와 보낼 문장을 함께 읽어 판정하고, 부적절하면 전송하지 않고 되묻습니다.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144768" y="4846320"/>
            <a:ext cx="5212080" cy="1133856"/>
          </a:xfrm>
          <a:prstGeom prst="roundRect">
            <a:avLst>
              <a:gd fmla="val 7258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419088" y="5102352"/>
            <a:ext cx="420624" cy="420624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419088" y="51023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004304" y="5029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선택의 기록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004304" y="5394960"/>
            <a:ext cx="4114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 이후 보냈는지 취소했는지를 기록 — 사실상의 정답 라벨로 다음 평가 데이터가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0" name="Google Shape;140;p4" title="career-jikimi_ai검증기능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525" y="2678061"/>
            <a:ext cx="5173474" cy="2910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f64d030cd0_8_0" title="career-jikimi_ai검증기능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5"/>
            <a:ext cx="12192000" cy="6858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4d030cd0_0_76"/>
          <p:cNvSpPr/>
          <p:nvPr/>
        </p:nvSpPr>
        <p:spPr>
          <a:xfrm>
            <a:off x="548640" y="347472"/>
            <a:ext cx="201300" cy="201300"/>
          </a:xfrm>
          <a:prstGeom prst="roundRect">
            <a:avLst>
              <a:gd fmla="val 22727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64d030cd0_0_76"/>
          <p:cNvSpPr/>
          <p:nvPr/>
        </p:nvSpPr>
        <p:spPr>
          <a:xfrm>
            <a:off x="804672" y="27432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64d030cd0_0_76"/>
          <p:cNvSpPr/>
          <p:nvPr/>
        </p:nvSpPr>
        <p:spPr>
          <a:xfrm>
            <a:off x="9966960" y="274320"/>
            <a:ext cx="167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64d030cd0_0_76"/>
          <p:cNvSpPr/>
          <p:nvPr/>
        </p:nvSpPr>
        <p:spPr>
          <a:xfrm>
            <a:off x="548640" y="71323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 서론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64d030cd0_0_76"/>
          <p:cNvSpPr/>
          <p:nvPr/>
        </p:nvSpPr>
        <p:spPr>
          <a:xfrm>
            <a:off x="521208" y="932688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WBS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f64d030cd0_0_76"/>
          <p:cNvCxnSpPr/>
          <p:nvPr/>
        </p:nvCxnSpPr>
        <p:spPr>
          <a:xfrm>
            <a:off x="548640" y="1627632"/>
            <a:ext cx="11091600" cy="0"/>
          </a:xfrm>
          <a:prstGeom prst="straightConnector1">
            <a:avLst/>
          </a:prstGeom>
          <a:noFill/>
          <a:ln cap="flat" cmpd="sng" w="9525">
            <a:solidFill>
              <a:srgbClr val="C8D0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g3f64d030cd0_0_76"/>
          <p:cNvSpPr/>
          <p:nvPr/>
        </p:nvSpPr>
        <p:spPr>
          <a:xfrm>
            <a:off x="4697245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7/27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64d030cd0_0_76"/>
          <p:cNvSpPr/>
          <p:nvPr/>
        </p:nvSpPr>
        <p:spPr>
          <a:xfrm>
            <a:off x="4697245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64d030cd0_0_76"/>
          <p:cNvSpPr/>
          <p:nvPr/>
        </p:nvSpPr>
        <p:spPr>
          <a:xfrm>
            <a:off x="5578727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7/28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64d030cd0_0_76"/>
          <p:cNvSpPr/>
          <p:nvPr/>
        </p:nvSpPr>
        <p:spPr>
          <a:xfrm>
            <a:off x="5578727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64d030cd0_0_76"/>
          <p:cNvSpPr/>
          <p:nvPr/>
        </p:nvSpPr>
        <p:spPr>
          <a:xfrm>
            <a:off x="6460208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7/29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64d030cd0_0_76"/>
          <p:cNvSpPr/>
          <p:nvPr/>
        </p:nvSpPr>
        <p:spPr>
          <a:xfrm>
            <a:off x="6460208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64d030cd0_0_76"/>
          <p:cNvSpPr/>
          <p:nvPr/>
        </p:nvSpPr>
        <p:spPr>
          <a:xfrm>
            <a:off x="7341690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7/30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64d030cd0_0_76"/>
          <p:cNvSpPr/>
          <p:nvPr/>
        </p:nvSpPr>
        <p:spPr>
          <a:xfrm>
            <a:off x="7341690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64d030cd0_0_76"/>
          <p:cNvSpPr/>
          <p:nvPr/>
        </p:nvSpPr>
        <p:spPr>
          <a:xfrm>
            <a:off x="8223171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7/31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64d030cd0_0_76"/>
          <p:cNvSpPr/>
          <p:nvPr/>
        </p:nvSpPr>
        <p:spPr>
          <a:xfrm>
            <a:off x="8223171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64d030cd0_0_76"/>
          <p:cNvSpPr/>
          <p:nvPr/>
        </p:nvSpPr>
        <p:spPr>
          <a:xfrm>
            <a:off x="9104653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b="1"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8/3</a:t>
            </a:r>
            <a:endParaRPr b="1" sz="1050">
              <a:solidFill>
                <a:srgbClr val="8A93A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3f64d030cd0_0_76"/>
          <p:cNvSpPr/>
          <p:nvPr/>
        </p:nvSpPr>
        <p:spPr>
          <a:xfrm>
            <a:off x="9104653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</a:t>
            </a:r>
            <a:endParaRPr sz="800">
              <a:solidFill>
                <a:srgbClr val="8A93A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g3f64d030cd0_0_76"/>
          <p:cNvSpPr/>
          <p:nvPr/>
        </p:nvSpPr>
        <p:spPr>
          <a:xfrm>
            <a:off x="9986135" y="1981307"/>
            <a:ext cx="8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050"/>
              <a:buFont typeface="Malgun Gothic"/>
              <a:buNone/>
            </a:pPr>
            <a:r>
              <a:rPr b="1" lang="en-US" sz="1050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8/4</a:t>
            </a:r>
            <a:endParaRPr b="1" sz="1050">
              <a:solidFill>
                <a:srgbClr val="8A93A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g3f64d030cd0_0_76"/>
          <p:cNvSpPr/>
          <p:nvPr/>
        </p:nvSpPr>
        <p:spPr>
          <a:xfrm>
            <a:off x="9986135" y="2200763"/>
            <a:ext cx="88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sz="800">
              <a:solidFill>
                <a:srgbClr val="8A93A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2" name="Google Shape;172;g3f64d030cd0_0_76"/>
          <p:cNvCxnSpPr/>
          <p:nvPr/>
        </p:nvCxnSpPr>
        <p:spPr>
          <a:xfrm>
            <a:off x="4697245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g3f64d030cd0_0_76"/>
          <p:cNvCxnSpPr/>
          <p:nvPr/>
        </p:nvCxnSpPr>
        <p:spPr>
          <a:xfrm>
            <a:off x="5578727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g3f64d030cd0_0_76"/>
          <p:cNvCxnSpPr/>
          <p:nvPr/>
        </p:nvCxnSpPr>
        <p:spPr>
          <a:xfrm>
            <a:off x="6460208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g3f64d030cd0_0_76"/>
          <p:cNvCxnSpPr/>
          <p:nvPr/>
        </p:nvCxnSpPr>
        <p:spPr>
          <a:xfrm>
            <a:off x="7341690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g3f64d030cd0_0_76"/>
          <p:cNvCxnSpPr/>
          <p:nvPr/>
        </p:nvCxnSpPr>
        <p:spPr>
          <a:xfrm>
            <a:off x="8223171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g3f64d030cd0_0_76"/>
          <p:cNvCxnSpPr/>
          <p:nvPr/>
        </p:nvCxnSpPr>
        <p:spPr>
          <a:xfrm>
            <a:off x="9104653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g3f64d030cd0_0_76"/>
          <p:cNvCxnSpPr/>
          <p:nvPr/>
        </p:nvCxnSpPr>
        <p:spPr>
          <a:xfrm>
            <a:off x="9986135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g3f64d030cd0_0_76"/>
          <p:cNvCxnSpPr/>
          <p:nvPr/>
        </p:nvCxnSpPr>
        <p:spPr>
          <a:xfrm>
            <a:off x="10867616" y="2438507"/>
            <a:ext cx="0" cy="386790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g3f64d030cd0_0_76"/>
          <p:cNvSpPr/>
          <p:nvPr/>
        </p:nvSpPr>
        <p:spPr>
          <a:xfrm>
            <a:off x="1542577" y="2061387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64d030cd0_0_76"/>
          <p:cNvSpPr/>
          <p:nvPr/>
        </p:nvSpPr>
        <p:spPr>
          <a:xfrm>
            <a:off x="1725458" y="2015667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김지환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64d030cd0_0_76"/>
          <p:cNvSpPr/>
          <p:nvPr/>
        </p:nvSpPr>
        <p:spPr>
          <a:xfrm>
            <a:off x="2301530" y="2061387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64d030cd0_0_76"/>
          <p:cNvSpPr/>
          <p:nvPr/>
        </p:nvSpPr>
        <p:spPr>
          <a:xfrm>
            <a:off x="2484410" y="2015667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김연희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64d030cd0_0_76"/>
          <p:cNvSpPr/>
          <p:nvPr/>
        </p:nvSpPr>
        <p:spPr>
          <a:xfrm>
            <a:off x="3060482" y="2061387"/>
            <a:ext cx="146400" cy="146400"/>
          </a:xfrm>
          <a:prstGeom prst="roundRect">
            <a:avLst>
              <a:gd fmla="val 25000" name="adj"/>
            </a:avLst>
          </a:prstGeom>
          <a:solidFill>
            <a:srgbClr val="8CA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64d030cd0_0_76"/>
          <p:cNvSpPr/>
          <p:nvPr/>
        </p:nvSpPr>
        <p:spPr>
          <a:xfrm>
            <a:off x="3243362" y="2015667"/>
            <a:ext cx="640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f64d030cd0_0_76"/>
          <p:cNvCxnSpPr/>
          <p:nvPr/>
        </p:nvCxnSpPr>
        <p:spPr>
          <a:xfrm>
            <a:off x="1542573" y="3012300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f64d030cd0_0_76"/>
          <p:cNvSpPr/>
          <p:nvPr/>
        </p:nvSpPr>
        <p:spPr>
          <a:xfrm>
            <a:off x="1542565" y="2516231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64d030cd0_0_76"/>
          <p:cNvSpPr/>
          <p:nvPr/>
        </p:nvSpPr>
        <p:spPr>
          <a:xfrm>
            <a:off x="1542565" y="2744831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· 환경 구성 · 일정 수립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64d030cd0_0_76"/>
          <p:cNvSpPr/>
          <p:nvPr/>
        </p:nvSpPr>
        <p:spPr>
          <a:xfrm>
            <a:off x="4761253" y="2539091"/>
            <a:ext cx="1635000" cy="329100"/>
          </a:xfrm>
          <a:prstGeom prst="roundRect">
            <a:avLst>
              <a:gd fmla="val 25000" name="adj"/>
            </a:avLst>
          </a:prstGeom>
          <a:solidFill>
            <a:srgbClr val="8CA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g3f64d030cd0_0_76"/>
          <p:cNvCxnSpPr/>
          <p:nvPr/>
        </p:nvCxnSpPr>
        <p:spPr>
          <a:xfrm>
            <a:off x="1542573" y="3556367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g3f64d030cd0_0_76"/>
          <p:cNvSpPr/>
          <p:nvPr/>
        </p:nvSpPr>
        <p:spPr>
          <a:xfrm>
            <a:off x="1542565" y="3060299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설계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64d030cd0_0_76"/>
          <p:cNvSpPr/>
          <p:nvPr/>
        </p:nvSpPr>
        <p:spPr>
          <a:xfrm>
            <a:off x="1542565" y="3288899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 · 아키텍처 ADR 8건 · 데이터 모델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64d030cd0_0_76"/>
          <p:cNvSpPr/>
          <p:nvPr/>
        </p:nvSpPr>
        <p:spPr>
          <a:xfrm>
            <a:off x="6524216" y="3083159"/>
            <a:ext cx="753600" cy="329100"/>
          </a:xfrm>
          <a:prstGeom prst="roundRect">
            <a:avLst>
              <a:gd fmla="val 25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g3f64d030cd0_0_76"/>
          <p:cNvCxnSpPr/>
          <p:nvPr/>
        </p:nvCxnSpPr>
        <p:spPr>
          <a:xfrm>
            <a:off x="1542573" y="4100433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g3f64d030cd0_0_76"/>
          <p:cNvSpPr/>
          <p:nvPr/>
        </p:nvSpPr>
        <p:spPr>
          <a:xfrm>
            <a:off x="1542565" y="3604367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구현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64d030cd0_0_76"/>
          <p:cNvSpPr/>
          <p:nvPr/>
        </p:nvSpPr>
        <p:spPr>
          <a:xfrm>
            <a:off x="1542565" y="3832967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5모듈 · 프론트 · 테스트 444건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64d030cd0_0_76"/>
          <p:cNvSpPr/>
          <p:nvPr/>
        </p:nvSpPr>
        <p:spPr>
          <a:xfrm>
            <a:off x="7405698" y="3627227"/>
            <a:ext cx="753600" cy="329100"/>
          </a:xfrm>
          <a:prstGeom prst="roundRect">
            <a:avLst>
              <a:gd fmla="val 25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g3f64d030cd0_0_76"/>
          <p:cNvCxnSpPr/>
          <p:nvPr/>
        </p:nvCxnSpPr>
        <p:spPr>
          <a:xfrm>
            <a:off x="1542573" y="4644500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f64d030cd0_0_76"/>
          <p:cNvSpPr/>
          <p:nvPr/>
        </p:nvSpPr>
        <p:spPr>
          <a:xfrm>
            <a:off x="1542565" y="4148435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데이터셋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64d030cd0_0_76"/>
          <p:cNvSpPr/>
          <p:nvPr/>
        </p:nvSpPr>
        <p:spPr>
          <a:xfrm>
            <a:off x="1542565" y="4377035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v1 100행 → v3 1,000행 · 평가셋 2종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64d030cd0_0_76"/>
          <p:cNvSpPr/>
          <p:nvPr/>
        </p:nvSpPr>
        <p:spPr>
          <a:xfrm>
            <a:off x="6524223" y="4171300"/>
            <a:ext cx="2580300" cy="329100"/>
          </a:xfrm>
          <a:prstGeom prst="roundRect">
            <a:avLst>
              <a:gd fmla="val 25000" name="adj"/>
            </a:avLst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g3f64d030cd0_0_76"/>
          <p:cNvCxnSpPr/>
          <p:nvPr/>
        </p:nvCxnSpPr>
        <p:spPr>
          <a:xfrm>
            <a:off x="1542573" y="5188567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g3f64d030cd0_0_76"/>
          <p:cNvSpPr/>
          <p:nvPr/>
        </p:nvSpPr>
        <p:spPr>
          <a:xfrm>
            <a:off x="1542565" y="4692503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모델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64d030cd0_0_76"/>
          <p:cNvSpPr/>
          <p:nvPr/>
        </p:nvSpPr>
        <p:spPr>
          <a:xfrm>
            <a:off x="1542565" y="4921103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파인튜닝 · 교차검증 · 백엔드 추상화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64d030cd0_0_76"/>
          <p:cNvSpPr/>
          <p:nvPr/>
        </p:nvSpPr>
        <p:spPr>
          <a:xfrm>
            <a:off x="8287179" y="4715363"/>
            <a:ext cx="753600" cy="329100"/>
          </a:xfrm>
          <a:prstGeom prst="roundRect">
            <a:avLst>
              <a:gd fmla="val 25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g3f64d030cd0_0_76"/>
          <p:cNvCxnSpPr/>
          <p:nvPr/>
        </p:nvCxnSpPr>
        <p:spPr>
          <a:xfrm>
            <a:off x="1542573" y="5732633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g3f64d030cd0_0_76"/>
          <p:cNvSpPr/>
          <p:nvPr/>
        </p:nvSpPr>
        <p:spPr>
          <a:xfrm>
            <a:off x="1542565" y="5236571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검증·보완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64d030cd0_0_76"/>
          <p:cNvSpPr/>
          <p:nvPr/>
        </p:nvSpPr>
        <p:spPr>
          <a:xfrm>
            <a:off x="1542565" y="5465171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곡선 · threshold 수정 · 성능 재현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64d030cd0_0_76"/>
          <p:cNvSpPr/>
          <p:nvPr/>
        </p:nvSpPr>
        <p:spPr>
          <a:xfrm>
            <a:off x="9168587" y="5259431"/>
            <a:ext cx="753600" cy="329100"/>
          </a:xfrm>
          <a:prstGeom prst="roundRect">
            <a:avLst>
              <a:gd fmla="val 25000" name="adj"/>
            </a:avLst>
          </a:prstGeom>
          <a:solidFill>
            <a:srgbClr val="8CA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g3f64d030cd0_0_76"/>
          <p:cNvCxnSpPr/>
          <p:nvPr/>
        </p:nvCxnSpPr>
        <p:spPr>
          <a:xfrm>
            <a:off x="548648" y="6276700"/>
            <a:ext cx="93252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g3f64d030cd0_0_76"/>
          <p:cNvSpPr/>
          <p:nvPr/>
        </p:nvSpPr>
        <p:spPr>
          <a:xfrm>
            <a:off x="1542565" y="5780639"/>
            <a:ext cx="148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발표 준비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64d030cd0_0_76"/>
          <p:cNvSpPr/>
          <p:nvPr/>
        </p:nvSpPr>
        <p:spPr>
          <a:xfrm>
            <a:off x="1542565" y="6009239"/>
            <a:ext cx="309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보고 · 발표자료 · 시연 영상 · 발표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64d030cd0_0_76"/>
          <p:cNvSpPr/>
          <p:nvPr/>
        </p:nvSpPr>
        <p:spPr>
          <a:xfrm>
            <a:off x="9168656" y="5803500"/>
            <a:ext cx="1673400" cy="329100"/>
          </a:xfrm>
          <a:prstGeom prst="roundRect">
            <a:avLst>
              <a:gd fmla="val 25000" name="adj"/>
            </a:avLst>
          </a:prstGeom>
          <a:solidFill>
            <a:srgbClr val="8CA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/ 기술스택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6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6"/>
          <p:cNvSpPr/>
          <p:nvPr/>
        </p:nvSpPr>
        <p:spPr>
          <a:xfrm>
            <a:off x="566928" y="1965960"/>
            <a:ext cx="7223700" cy="2331600"/>
          </a:xfrm>
          <a:prstGeom prst="roundRect">
            <a:avLst>
              <a:gd fmla="val 3137" name="adj"/>
            </a:avLst>
          </a:prstGeom>
          <a:solidFill>
            <a:srgbClr val="EDF2FC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41248" y="2725842"/>
            <a:ext cx="13716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77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41248" y="2844715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41248" y="311903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18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TypeScript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6"/>
          <p:cNvCxnSpPr/>
          <p:nvPr/>
        </p:nvCxnSpPr>
        <p:spPr>
          <a:xfrm>
            <a:off x="2212848" y="3201331"/>
            <a:ext cx="274200" cy="0"/>
          </a:xfrm>
          <a:prstGeom prst="straightConnector1">
            <a:avLst/>
          </a:prstGeom>
          <a:noFill/>
          <a:ln cap="flat" cmpd="sng" w="17775">
            <a:solidFill>
              <a:srgbClr val="9AA2A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6"/>
          <p:cNvSpPr/>
          <p:nvPr/>
        </p:nvSpPr>
        <p:spPr>
          <a:xfrm>
            <a:off x="2487168" y="2725842"/>
            <a:ext cx="13716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7775">
            <a:solidFill>
              <a:srgbClr val="C9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487168" y="2844715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61D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C97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487168" y="311903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nginx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정적 + 프록시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6"/>
          <p:cNvCxnSpPr/>
          <p:nvPr/>
        </p:nvCxnSpPr>
        <p:spPr>
          <a:xfrm>
            <a:off x="3858768" y="3201331"/>
            <a:ext cx="274200" cy="0"/>
          </a:xfrm>
          <a:prstGeom prst="straightConnector1">
            <a:avLst/>
          </a:prstGeom>
          <a:noFill/>
          <a:ln cap="flat" cmpd="sng" w="17775">
            <a:solidFill>
              <a:srgbClr val="9AA2A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6"/>
          <p:cNvSpPr/>
          <p:nvPr/>
        </p:nvSpPr>
        <p:spPr>
          <a:xfrm>
            <a:off x="4133088" y="2725842"/>
            <a:ext cx="14631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77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133088" y="2844715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133088" y="3119035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WebSocket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6"/>
          <p:cNvCxnSpPr/>
          <p:nvPr/>
        </p:nvCxnSpPr>
        <p:spPr>
          <a:xfrm>
            <a:off x="5596128" y="3201331"/>
            <a:ext cx="274200" cy="0"/>
          </a:xfrm>
          <a:prstGeom prst="straightConnector1">
            <a:avLst/>
          </a:prstGeom>
          <a:noFill/>
          <a:ln cap="flat" cmpd="sng" w="17775">
            <a:solidFill>
              <a:srgbClr val="9AA2A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6"/>
          <p:cNvSpPr/>
          <p:nvPr/>
        </p:nvSpPr>
        <p:spPr>
          <a:xfrm>
            <a:off x="5870448" y="2725842"/>
            <a:ext cx="16458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7775">
            <a:solidFill>
              <a:srgbClr val="2B3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870448" y="2844715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76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A76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870448" y="3119035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MariaDB 11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utf8mb4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841248" y="2130552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컨테이너 3개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8065008" y="1965960"/>
            <a:ext cx="3566100" cy="2331600"/>
          </a:xfrm>
          <a:prstGeom prst="roundRect">
            <a:avLst>
              <a:gd fmla="val 3137" name="adj"/>
            </a:avLst>
          </a:prstGeom>
          <a:solidFill>
            <a:srgbClr val="FBF1E4"/>
          </a:solidFill>
          <a:ln cap="flat" cmpd="sng" w="9525">
            <a:solidFill>
              <a:srgbClr val="FBF1E4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8302752" y="2148840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7A4A1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백엔드 (교체 가능)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8302752" y="2496312"/>
            <a:ext cx="3108900" cy="47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7775">
            <a:solidFill>
              <a:srgbClr val="C9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8449056" y="2532888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61D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97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   ← 현재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8449056" y="2743200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8302752" y="3063240"/>
            <a:ext cx="3108900" cy="47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3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449056" y="3099816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05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8A7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openai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449056" y="331012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API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8302752" y="3630168"/>
            <a:ext cx="3108900" cy="4755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E3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449056" y="3666744"/>
            <a:ext cx="2834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050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8A7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ollama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449056" y="3877056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로컬 LLM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66928" y="4572000"/>
            <a:ext cx="2066400" cy="1298400"/>
          </a:xfrm>
          <a:prstGeom prst="roundRect">
            <a:avLst>
              <a:gd fmla="val 5634" name="adj"/>
            </a:avLst>
          </a:prstGeom>
          <a:solidFill>
            <a:srgbClr val="EDF2FC"/>
          </a:solidFill>
          <a:ln cap="flat" cmpd="sng" w="9525">
            <a:solidFill>
              <a:srgbClr val="EDF2FC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731520" y="47365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프론트엔드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31520" y="502920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18 · TypeScript 5.7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6 · Zustand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2816352" y="4572000"/>
            <a:ext cx="2066400" cy="1298400"/>
          </a:xfrm>
          <a:prstGeom prst="roundRect">
            <a:avLst>
              <a:gd fmla="val 5634" name="adj"/>
            </a:avLst>
          </a:prstGeom>
          <a:solidFill>
            <a:srgbClr val="EDF2FC"/>
          </a:solidFill>
          <a:ln cap="flat" cmpd="sng" w="9525">
            <a:solidFill>
              <a:srgbClr val="EDF2FC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2980944" y="47365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2980944" y="502920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 · WebSocket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SQLAlchemy + asyncmy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065776" y="4572000"/>
            <a:ext cx="2066400" cy="1298400"/>
          </a:xfrm>
          <a:prstGeom prst="roundRect">
            <a:avLst>
              <a:gd fmla="val 5634" name="adj"/>
            </a:avLst>
          </a:prstGeom>
          <a:solidFill>
            <a:srgbClr val="EDF2FC"/>
          </a:solidFill>
          <a:ln cap="flat" cmpd="sng" w="9525">
            <a:solidFill>
              <a:srgbClr val="EDF2FC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230368" y="47365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5230368" y="502920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MariaDB 11 (InnoDB)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Alembic 마이그레이션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7315200" y="4572000"/>
            <a:ext cx="2066400" cy="1298400"/>
          </a:xfrm>
          <a:prstGeom prst="roundRect">
            <a:avLst>
              <a:gd fmla="val 5634" name="adj"/>
            </a:avLst>
          </a:prstGeom>
          <a:solidFill>
            <a:srgbClr val="FBF1E4"/>
          </a:solidFill>
          <a:ln cap="flat" cmpd="sng" w="9525">
            <a:solidFill>
              <a:srgbClr val="FBF1E4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479792" y="47365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61D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C97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판정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7479792" y="502920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A.X-Encoder 파인튜닝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PyTorch (CPU)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9564624" y="4572000"/>
            <a:ext cx="2066400" cy="1298400"/>
          </a:xfrm>
          <a:prstGeom prst="roundRect">
            <a:avLst>
              <a:gd fmla="val 5634" name="adj"/>
            </a:avLst>
          </a:prstGeom>
          <a:solidFill>
            <a:srgbClr val="EDF2FC"/>
          </a:solidFill>
          <a:ln cap="flat" cmpd="sng" w="9525">
            <a:solidFill>
              <a:srgbClr val="EDF2FC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9729216" y="47365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· 시험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9729216" y="5029200"/>
            <a:ext cx="1737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Docker Compose · nginx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pytest 355 · Vitest 147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4d030cd0_0_195"/>
          <p:cNvSpPr/>
          <p:nvPr/>
        </p:nvSpPr>
        <p:spPr>
          <a:xfrm>
            <a:off x="548640" y="347472"/>
            <a:ext cx="201300" cy="201300"/>
          </a:xfrm>
          <a:prstGeom prst="roundRect">
            <a:avLst>
              <a:gd fmla="val 22727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64d030cd0_0_195"/>
          <p:cNvSpPr/>
          <p:nvPr/>
        </p:nvSpPr>
        <p:spPr>
          <a:xfrm>
            <a:off x="804672" y="27432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64d030cd0_0_195"/>
          <p:cNvSpPr/>
          <p:nvPr/>
        </p:nvSpPr>
        <p:spPr>
          <a:xfrm>
            <a:off x="9966960" y="274320"/>
            <a:ext cx="167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64d030cd0_0_195"/>
          <p:cNvSpPr/>
          <p:nvPr/>
        </p:nvSpPr>
        <p:spPr>
          <a:xfrm>
            <a:off x="548640" y="71323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 본론 · AI 모델링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64d030cd0_0_195"/>
          <p:cNvSpPr/>
          <p:nvPr/>
        </p:nvSpPr>
        <p:spPr>
          <a:xfrm>
            <a:off x="521208" y="932688"/>
            <a:ext cx="731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모델링 전체 흐름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f64d030cd0_0_195"/>
          <p:cNvCxnSpPr/>
          <p:nvPr/>
        </p:nvCxnSpPr>
        <p:spPr>
          <a:xfrm>
            <a:off x="548640" y="1627632"/>
            <a:ext cx="11091600" cy="0"/>
          </a:xfrm>
          <a:prstGeom prst="straightConnector1">
            <a:avLst/>
          </a:prstGeom>
          <a:noFill/>
          <a:ln cap="flat" cmpd="sng" w="9525">
            <a:solidFill>
              <a:srgbClr val="C8D0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f64d030cd0_0_195"/>
          <p:cNvSpPr/>
          <p:nvPr/>
        </p:nvSpPr>
        <p:spPr>
          <a:xfrm>
            <a:off x="548640" y="2286000"/>
            <a:ext cx="2066400" cy="3566100"/>
          </a:xfrm>
          <a:prstGeom prst="roundRect">
            <a:avLst>
              <a:gd fmla="val 442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64d030cd0_0_195"/>
          <p:cNvSpPr/>
          <p:nvPr/>
        </p:nvSpPr>
        <p:spPr>
          <a:xfrm>
            <a:off x="1362456" y="2578608"/>
            <a:ext cx="438900" cy="4389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64d030cd0_0_195"/>
          <p:cNvSpPr/>
          <p:nvPr/>
        </p:nvSpPr>
        <p:spPr>
          <a:xfrm>
            <a:off x="1362456" y="257860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64d030cd0_0_195"/>
          <p:cNvSpPr/>
          <p:nvPr/>
        </p:nvSpPr>
        <p:spPr>
          <a:xfrm>
            <a:off x="548640" y="3154680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64d030cd0_0_195"/>
          <p:cNvSpPr/>
          <p:nvPr/>
        </p:nvSpPr>
        <p:spPr>
          <a:xfrm>
            <a:off x="658368" y="3733800"/>
            <a:ext cx="184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lang="en-US" sz="113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실수는 가끔씩 발생한다는 가정하에 잦은 알림을 방지하기 위하여 precision을 우선 지표로 선택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g3f64d030cd0_0_195"/>
          <p:cNvCxnSpPr/>
          <p:nvPr/>
        </p:nvCxnSpPr>
        <p:spPr>
          <a:xfrm>
            <a:off x="868680" y="4846320"/>
            <a:ext cx="14265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g3f64d030cd0_0_195"/>
          <p:cNvSpPr/>
          <p:nvPr/>
        </p:nvSpPr>
        <p:spPr>
          <a:xfrm>
            <a:off x="548640" y="4956048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precision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64d030cd0_0_195"/>
          <p:cNvSpPr/>
          <p:nvPr/>
        </p:nvSpPr>
        <p:spPr>
          <a:xfrm>
            <a:off x="548640" y="5431536"/>
            <a:ext cx="206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 지표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64d030cd0_0_195"/>
          <p:cNvSpPr/>
          <p:nvPr/>
        </p:nvSpPr>
        <p:spPr>
          <a:xfrm>
            <a:off x="2583180" y="3182112"/>
            <a:ext cx="25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64d030cd0_0_195"/>
          <p:cNvSpPr/>
          <p:nvPr/>
        </p:nvSpPr>
        <p:spPr>
          <a:xfrm>
            <a:off x="2807208" y="2286000"/>
            <a:ext cx="2066400" cy="3566100"/>
          </a:xfrm>
          <a:prstGeom prst="roundRect">
            <a:avLst>
              <a:gd fmla="val 4425" name="adj"/>
            </a:avLst>
          </a:prstGeom>
          <a:solidFill>
            <a:srgbClr val="E4E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64d030cd0_0_195"/>
          <p:cNvSpPr/>
          <p:nvPr/>
        </p:nvSpPr>
        <p:spPr>
          <a:xfrm>
            <a:off x="3621024" y="2578608"/>
            <a:ext cx="438900" cy="4389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64d030cd0_0_195"/>
          <p:cNvSpPr/>
          <p:nvPr/>
        </p:nvSpPr>
        <p:spPr>
          <a:xfrm>
            <a:off x="3621024" y="257860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64d030cd0_0_195"/>
          <p:cNvSpPr/>
          <p:nvPr/>
        </p:nvSpPr>
        <p:spPr>
          <a:xfrm>
            <a:off x="2807208" y="3154680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구축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64d030cd0_0_195"/>
          <p:cNvSpPr/>
          <p:nvPr/>
        </p:nvSpPr>
        <p:spPr>
          <a:xfrm>
            <a:off x="2916936" y="3733800"/>
            <a:ext cx="184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v1 100행 → v3 1,000행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짝 구조로 표면 단서 차단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평가셋 2종 (100 · hard)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g3f64d030cd0_0_195"/>
          <p:cNvCxnSpPr/>
          <p:nvPr/>
        </p:nvCxnSpPr>
        <p:spPr>
          <a:xfrm>
            <a:off x="3127248" y="4846320"/>
            <a:ext cx="1426500" cy="0"/>
          </a:xfrm>
          <a:prstGeom prst="straightConnector1">
            <a:avLst/>
          </a:prstGeom>
          <a:noFill/>
          <a:ln cap="flat" cmpd="sng" w="9525">
            <a:solidFill>
              <a:srgbClr val="C8D4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f64d030cd0_0_195"/>
          <p:cNvSpPr/>
          <p:nvPr/>
        </p:nvSpPr>
        <p:spPr>
          <a:xfrm>
            <a:off x="2807208" y="4956048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1,000행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64d030cd0_0_195"/>
          <p:cNvSpPr/>
          <p:nvPr/>
        </p:nvSpPr>
        <p:spPr>
          <a:xfrm>
            <a:off x="2807208" y="5431536"/>
            <a:ext cx="206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64d030cd0_0_195"/>
          <p:cNvSpPr/>
          <p:nvPr/>
        </p:nvSpPr>
        <p:spPr>
          <a:xfrm>
            <a:off x="4841748" y="3182112"/>
            <a:ext cx="25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64d030cd0_0_195"/>
          <p:cNvSpPr/>
          <p:nvPr/>
        </p:nvSpPr>
        <p:spPr>
          <a:xfrm>
            <a:off x="5065776" y="2286000"/>
            <a:ext cx="2066400" cy="3566100"/>
          </a:xfrm>
          <a:prstGeom prst="roundRect">
            <a:avLst>
              <a:gd fmla="val 442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64d030cd0_0_195"/>
          <p:cNvSpPr/>
          <p:nvPr/>
        </p:nvSpPr>
        <p:spPr>
          <a:xfrm>
            <a:off x="5879592" y="2578608"/>
            <a:ext cx="438900" cy="4389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64d030cd0_0_195"/>
          <p:cNvSpPr/>
          <p:nvPr/>
        </p:nvSpPr>
        <p:spPr>
          <a:xfrm>
            <a:off x="5879592" y="257860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64d030cd0_0_195"/>
          <p:cNvSpPr/>
          <p:nvPr/>
        </p:nvSpPr>
        <p:spPr>
          <a:xfrm>
            <a:off x="5065776" y="3154680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학습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64d030cd0_0_195"/>
          <p:cNvSpPr/>
          <p:nvPr/>
        </p:nvSpPr>
        <p:spPr>
          <a:xfrm>
            <a:off x="5175504" y="3733800"/>
            <a:ext cx="184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A.X-Encoder 파인튜닝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cross-encoder 이진 분류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 4 · 5-fold 교차검증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g3f64d030cd0_0_195"/>
          <p:cNvCxnSpPr/>
          <p:nvPr/>
        </p:nvCxnSpPr>
        <p:spPr>
          <a:xfrm>
            <a:off x="5385816" y="4846320"/>
            <a:ext cx="14265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g3f64d030cd0_0_195"/>
          <p:cNvSpPr/>
          <p:nvPr/>
        </p:nvSpPr>
        <p:spPr>
          <a:xfrm>
            <a:off x="5065776" y="4956048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0.854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64d030cd0_0_195"/>
          <p:cNvSpPr/>
          <p:nvPr/>
        </p:nvSpPr>
        <p:spPr>
          <a:xfrm>
            <a:off x="5065776" y="5431536"/>
            <a:ext cx="206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 OOF 정확도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64d030cd0_0_195"/>
          <p:cNvSpPr/>
          <p:nvPr/>
        </p:nvSpPr>
        <p:spPr>
          <a:xfrm>
            <a:off x="7100316" y="3182112"/>
            <a:ext cx="25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64d030cd0_0_195"/>
          <p:cNvSpPr/>
          <p:nvPr/>
        </p:nvSpPr>
        <p:spPr>
          <a:xfrm>
            <a:off x="7324344" y="2286000"/>
            <a:ext cx="2066400" cy="3566100"/>
          </a:xfrm>
          <a:prstGeom prst="roundRect">
            <a:avLst>
              <a:gd fmla="val 442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64d030cd0_0_195"/>
          <p:cNvSpPr/>
          <p:nvPr/>
        </p:nvSpPr>
        <p:spPr>
          <a:xfrm>
            <a:off x="8138160" y="2578608"/>
            <a:ext cx="438900" cy="4389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64d030cd0_0_195"/>
          <p:cNvSpPr/>
          <p:nvPr/>
        </p:nvSpPr>
        <p:spPr>
          <a:xfrm>
            <a:off x="8138160" y="257860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64d030cd0_0_195"/>
          <p:cNvSpPr/>
          <p:nvPr/>
        </p:nvSpPr>
        <p:spPr>
          <a:xfrm>
            <a:off x="7324344" y="3154680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64d030cd0_0_195"/>
          <p:cNvSpPr/>
          <p:nvPr/>
        </p:nvSpPr>
        <p:spPr>
          <a:xfrm>
            <a:off x="7434072" y="3733800"/>
            <a:ext cx="184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절제 실험 — 문맥 의존 증명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threshold 스윕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곡선으로 EPOCHS 확인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g3f64d030cd0_0_195"/>
          <p:cNvCxnSpPr/>
          <p:nvPr/>
        </p:nvCxnSpPr>
        <p:spPr>
          <a:xfrm>
            <a:off x="7644384" y="4846320"/>
            <a:ext cx="14265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g3f64d030cd0_0_195"/>
          <p:cNvSpPr/>
          <p:nvPr/>
        </p:nvSpPr>
        <p:spPr>
          <a:xfrm>
            <a:off x="7324344" y="4956048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−0.385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64d030cd0_0_195"/>
          <p:cNvSpPr/>
          <p:nvPr/>
        </p:nvSpPr>
        <p:spPr>
          <a:xfrm>
            <a:off x="7324344" y="5431536"/>
            <a:ext cx="206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 제거 시 하락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64d030cd0_0_195"/>
          <p:cNvSpPr/>
          <p:nvPr/>
        </p:nvSpPr>
        <p:spPr>
          <a:xfrm>
            <a:off x="9358884" y="3182112"/>
            <a:ext cx="25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64d030cd0_0_195"/>
          <p:cNvSpPr/>
          <p:nvPr/>
        </p:nvSpPr>
        <p:spPr>
          <a:xfrm>
            <a:off x="9582912" y="2286000"/>
            <a:ext cx="2066400" cy="3566100"/>
          </a:xfrm>
          <a:prstGeom prst="roundRect">
            <a:avLst>
              <a:gd fmla="val 442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64d030cd0_0_195"/>
          <p:cNvSpPr/>
          <p:nvPr/>
        </p:nvSpPr>
        <p:spPr>
          <a:xfrm>
            <a:off x="10396728" y="2578608"/>
            <a:ext cx="438900" cy="4389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64d030cd0_0_195"/>
          <p:cNvSpPr/>
          <p:nvPr/>
        </p:nvSpPr>
        <p:spPr>
          <a:xfrm>
            <a:off x="10396728" y="257860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64d030cd0_0_195"/>
          <p:cNvSpPr/>
          <p:nvPr/>
        </p:nvSpPr>
        <p:spPr>
          <a:xfrm>
            <a:off x="9582912" y="3154680"/>
            <a:ext cx="206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Malgun Gothic"/>
              <a:buNone/>
            </a:pPr>
            <a:r>
              <a:rPr b="1" i="0" lang="en-US" sz="14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연결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64d030cd0_0_195"/>
          <p:cNvSpPr/>
          <p:nvPr/>
        </p:nvSpPr>
        <p:spPr>
          <a:xfrm>
            <a:off x="9692640" y="3733800"/>
            <a:ext cx="184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임계값 0.7 적용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3종 교체 구조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444B58"/>
              </a:buClr>
              <a:buSzPts val="930"/>
              <a:buFont typeface="Malgun Gothic"/>
              <a:buNone/>
            </a:pPr>
            <a:r>
              <a:rPr b="0" i="0" lang="en-US" sz="113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로그로 지연 실측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g3f64d030cd0_0_195"/>
          <p:cNvCxnSpPr/>
          <p:nvPr/>
        </p:nvCxnSpPr>
        <p:spPr>
          <a:xfrm>
            <a:off x="9902952" y="4846320"/>
            <a:ext cx="1426500" cy="0"/>
          </a:xfrm>
          <a:prstGeom prst="straightConnector1">
            <a:avLst/>
          </a:prstGeom>
          <a:noFill/>
          <a:ln cap="flat" cmpd="sng" w="95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g3f64d030cd0_0_195"/>
          <p:cNvSpPr/>
          <p:nvPr/>
        </p:nvSpPr>
        <p:spPr>
          <a:xfrm>
            <a:off x="9582912" y="4956048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538ms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64d030cd0_0_195"/>
          <p:cNvSpPr/>
          <p:nvPr/>
        </p:nvSpPr>
        <p:spPr>
          <a:xfrm>
            <a:off x="9582912" y="5431536"/>
            <a:ext cx="206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지연 (p50)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선정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8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8"/>
          <p:cNvSpPr/>
          <p:nvPr/>
        </p:nvSpPr>
        <p:spPr>
          <a:xfrm>
            <a:off x="566928" y="2250775"/>
            <a:ext cx="4709100" cy="1874400"/>
          </a:xfrm>
          <a:prstGeom prst="roundRect">
            <a:avLst>
              <a:gd fmla="val 3902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841248" y="2470231"/>
            <a:ext cx="4206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skt / A.X-Encoder-base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41248" y="2817703"/>
            <a:ext cx="42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ModernBERT 계열 인코더 · 0.1B · Apache-2.0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841248" y="3183463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9AA2AD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파라미터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2286000" y="3183463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1억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841248" y="3476071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9AA2A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크기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286000" y="3476071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299 MB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841248" y="3768679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9AA2AD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2286000" y="3768679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cross-encoder 이진 분류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5532120" y="2250775"/>
            <a:ext cx="6099000" cy="111570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920922" y="2601295"/>
            <a:ext cx="365700" cy="365700"/>
          </a:xfrm>
          <a:prstGeom prst="ellipse">
            <a:avLst/>
          </a:prstGeom>
          <a:solidFill>
            <a:srgbClr val="C9761D"/>
          </a:solidFill>
          <a:ln cap="flat" cmpd="sng" w="12700">
            <a:solidFill>
              <a:srgbClr val="C9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5920922" y="2601295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653776" y="2433650"/>
            <a:ext cx="459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1"/>
              </a:buClr>
              <a:buSzPts val="14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D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생성이 아닌 분류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6653776" y="2726258"/>
            <a:ext cx="459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출력은 '적절 / 부적절' 하나뿐이다.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문장을 만들 필요가 없으니 디코더가 필요 없다.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532120" y="3668836"/>
            <a:ext cx="6099000" cy="111570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5920922" y="4019356"/>
            <a:ext cx="365700" cy="365700"/>
          </a:xfrm>
          <a:prstGeom prst="ellipse">
            <a:avLst/>
          </a:prstGeom>
          <a:solidFill>
            <a:srgbClr val="C9761D"/>
          </a:solidFill>
          <a:ln cap="flat" cmpd="sng" w="12700">
            <a:solidFill>
              <a:srgbClr val="C9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920922" y="401935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653776" y="3851709"/>
            <a:ext cx="459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1"/>
              </a:buClr>
              <a:buSzPts val="14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D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유출 X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6653776" y="4144317"/>
            <a:ext cx="459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전량 로컬에서 처리한다. 채팅 내용을 외부 API로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보내지 않는 것이 이 서비스에서는 기능 요건이다.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5532120" y="5086896"/>
            <a:ext cx="6099000" cy="1115700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920922" y="5487616"/>
            <a:ext cx="365700" cy="365700"/>
          </a:xfrm>
          <a:prstGeom prst="ellipse">
            <a:avLst/>
          </a:prstGeom>
          <a:solidFill>
            <a:srgbClr val="C9761D"/>
          </a:solidFill>
          <a:ln cap="flat" cmpd="sng" w="12700">
            <a:solidFill>
              <a:srgbClr val="C9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920922" y="548761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6653776" y="5319968"/>
            <a:ext cx="459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1"/>
              </a:buClr>
              <a:buSzPts val="14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D2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 X, 속도↑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653776" y="5612576"/>
            <a:ext cx="459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538ms — 타임아웃 예산 4초에 여유가 크다.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호출 비용이 없어 판정을 아끼지 않아도 된다.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66928" y="4308175"/>
            <a:ext cx="4709100" cy="1920300"/>
          </a:xfrm>
          <a:prstGeom prst="roundRect">
            <a:avLst>
              <a:gd fmla="val 3810" name="adj"/>
            </a:avLst>
          </a:prstGeom>
          <a:solidFill>
            <a:srgbClr val="EDF2FC"/>
          </a:solidFill>
          <a:ln cap="flat" cmpd="sng" w="9525">
            <a:solidFill>
              <a:srgbClr val="EDF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841248" y="4567255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가지를 같은 조건에서 비교했습니다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841250" y="5131225"/>
            <a:ext cx="119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260"/>
              </a:buClr>
              <a:buSzPts val="11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4A5260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 API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1918975" y="5131225"/>
            <a:ext cx="302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좋음 · 대화가 외부로 나감 · 비용 · 1340.4ms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841250" y="5557850"/>
            <a:ext cx="119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761D"/>
              </a:buClr>
              <a:buSzPts val="11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C9761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인코더 (채택)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1918975" y="5557850"/>
            <a:ext cx="302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4A12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7A4A1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개선 가능 · 외부 전송 없음 · </a:t>
            </a:r>
            <a:r>
              <a:rPr lang="en-US" sz="1050">
                <a:solidFill>
                  <a:srgbClr val="7A4A12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비용X </a:t>
            </a:r>
            <a:r>
              <a:rPr b="0" i="0" lang="en-US" sz="1050" u="none" cap="none" strike="noStrike">
                <a:solidFill>
                  <a:srgbClr val="7A4A12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538ms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64d030cd0_0_160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64d030cd0_0_160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64d030cd0_0_160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64d030cd0_0_160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64d030cd0_0_160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제작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64d030cd0_0_160"/>
          <p:cNvSpPr/>
          <p:nvPr/>
        </p:nvSpPr>
        <p:spPr>
          <a:xfrm>
            <a:off x="566928" y="2286000"/>
            <a:ext cx="34686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f64d030cd0_0_160"/>
          <p:cNvSpPr/>
          <p:nvPr/>
        </p:nvSpPr>
        <p:spPr>
          <a:xfrm>
            <a:off x="841248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64d030cd0_0_160"/>
          <p:cNvSpPr/>
          <p:nvPr/>
        </p:nvSpPr>
        <p:spPr>
          <a:xfrm>
            <a:off x="841248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64d030cd0_0_160"/>
          <p:cNvSpPr/>
          <p:nvPr/>
        </p:nvSpPr>
        <p:spPr>
          <a:xfrm>
            <a:off x="1389888" y="2542032"/>
            <a:ext cx="2499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데이터의 문제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64d030cd0_0_160"/>
          <p:cNvSpPr/>
          <p:nvPr/>
        </p:nvSpPr>
        <p:spPr>
          <a:xfrm>
            <a:off x="841248" y="3154680"/>
            <a:ext cx="2919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데이터는 ‘공격적·비난’은 항상 부적절, ‘정보·조언 제공’은 항상 적절처럼 scenario만으로 라벨이 결정되는 구조였습니다.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64d030cd0_0_160"/>
          <p:cNvSpPr/>
          <p:nvPr/>
        </p:nvSpPr>
        <p:spPr>
          <a:xfrm>
            <a:off x="841248" y="4251960"/>
            <a:ext cx="2919900" cy="731400"/>
          </a:xfrm>
          <a:prstGeom prst="roundRect">
            <a:avLst>
              <a:gd fmla="val 8333" name="adj"/>
            </a:avLst>
          </a:prstGeom>
          <a:solidFill>
            <a:srgbClr val="FBE4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64d030cd0_0_160"/>
          <p:cNvSpPr/>
          <p:nvPr/>
        </p:nvSpPr>
        <p:spPr>
          <a:xfrm>
            <a:off x="1005840" y="4279392"/>
            <a:ext cx="2590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 </a:t>
            </a:r>
            <a:r>
              <a:rPr lang="en-US" sz="9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scenario 기반 라벨 누출로 문맥 관계를 학습하지 않을 가능성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64d030cd0_0_160"/>
          <p:cNvSpPr/>
          <p:nvPr/>
        </p:nvSpPr>
        <p:spPr>
          <a:xfrm>
            <a:off x="4364736" y="2286000"/>
            <a:ext cx="34686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64d030cd0_0_160"/>
          <p:cNvSpPr/>
          <p:nvPr/>
        </p:nvSpPr>
        <p:spPr>
          <a:xfrm>
            <a:off x="4639056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64d030cd0_0_160"/>
          <p:cNvSpPr/>
          <p:nvPr/>
        </p:nvSpPr>
        <p:spPr>
          <a:xfrm>
            <a:off x="4639056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64d030cd0_0_160"/>
          <p:cNvSpPr/>
          <p:nvPr/>
        </p:nvSpPr>
        <p:spPr>
          <a:xfrm>
            <a:off x="5187696" y="2542032"/>
            <a:ext cx="2499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짝 구조로 재설계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64d030cd0_0_160"/>
          <p:cNvSpPr/>
          <p:nvPr/>
        </p:nvSpPr>
        <p:spPr>
          <a:xfrm>
            <a:off x="4639056" y="3154680"/>
            <a:ext cx="2919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response에 적절한 history와 부적절한 </a:t>
            </a:r>
            <a:r>
              <a:rPr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history를 </a:t>
            </a:r>
            <a:r>
              <a:rPr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각각 배치했습니다.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64d030cd0_0_160"/>
          <p:cNvSpPr/>
          <p:nvPr/>
        </p:nvSpPr>
        <p:spPr>
          <a:xfrm>
            <a:off x="4639056" y="4251960"/>
            <a:ext cx="2919900" cy="731400"/>
          </a:xfrm>
          <a:prstGeom prst="roundRect">
            <a:avLst>
              <a:gd fmla="val 8333" name="adj"/>
            </a:avLst>
          </a:prstGeom>
          <a:solidFill>
            <a:srgbClr val="E4E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64d030cd0_0_160"/>
          <p:cNvSpPr/>
          <p:nvPr/>
        </p:nvSpPr>
        <p:spPr>
          <a:xfrm>
            <a:off x="4803648" y="4279392"/>
            <a:ext cx="2590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  </a:t>
            </a:r>
            <a:r>
              <a:rPr lang="en-US" sz="9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응답+ 서로 다른 대화 2개</a:t>
            </a:r>
            <a:endParaRPr sz="950">
              <a:solidFill>
                <a:srgbClr val="444B5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950"/>
              <a:buFont typeface="Malgun Gothic"/>
              <a:buNone/>
            </a:pPr>
            <a:r>
              <a:rPr lang="en-US" sz="9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적절 1개 + 부적절 1개</a:t>
            </a:r>
            <a:endParaRPr sz="950">
              <a:solidFill>
                <a:srgbClr val="444B5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64d030cd0_0_160"/>
          <p:cNvSpPr/>
          <p:nvPr/>
        </p:nvSpPr>
        <p:spPr>
          <a:xfrm>
            <a:off x="8162544" y="2286000"/>
            <a:ext cx="34686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64d030cd0_0_160"/>
          <p:cNvSpPr/>
          <p:nvPr/>
        </p:nvSpPr>
        <p:spPr>
          <a:xfrm>
            <a:off x="8436864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64d030cd0_0_160"/>
          <p:cNvSpPr/>
          <p:nvPr/>
        </p:nvSpPr>
        <p:spPr>
          <a:xfrm>
            <a:off x="8436864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64d030cd0_0_160"/>
          <p:cNvSpPr/>
          <p:nvPr/>
        </p:nvSpPr>
        <p:spPr>
          <a:xfrm>
            <a:off x="8985504" y="2542032"/>
            <a:ext cx="2499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누출 재검증 (최종)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64d030cd0_0_160"/>
          <p:cNvSpPr/>
          <p:nvPr/>
        </p:nvSpPr>
        <p:spPr>
          <a:xfrm>
            <a:off x="8436864" y="3154680"/>
            <a:ext cx="2919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50"/>
              <a:buFont typeface="Malgun Gothic"/>
              <a:buNone/>
            </a:pPr>
            <a:r>
              <a:rPr lang="en-US" sz="1050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문맥을 파악하여 판단한다는 결과값 도출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64d030cd0_0_160"/>
          <p:cNvSpPr/>
          <p:nvPr/>
        </p:nvSpPr>
        <p:spPr>
          <a:xfrm>
            <a:off x="8436864" y="4251960"/>
            <a:ext cx="2919900" cy="731400"/>
          </a:xfrm>
          <a:prstGeom prst="roundRect">
            <a:avLst>
              <a:gd fmla="val 8333" name="adj"/>
            </a:avLst>
          </a:prstGeom>
          <a:solidFill>
            <a:srgbClr val="E1F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64d030cd0_0_160"/>
          <p:cNvSpPr/>
          <p:nvPr/>
        </p:nvSpPr>
        <p:spPr>
          <a:xfrm>
            <a:off x="8601456" y="4279392"/>
            <a:ext cx="2590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2E7D4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 </a:t>
            </a:r>
            <a:r>
              <a:rPr b="0" i="0" lang="en-US" sz="9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response-only 0.391 · history-only 0.294 · 중복 0건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64d030cd0_0_160"/>
          <p:cNvSpPr/>
          <p:nvPr/>
        </p:nvSpPr>
        <p:spPr>
          <a:xfrm>
            <a:off x="566928" y="5349240"/>
            <a:ext cx="11064300" cy="731400"/>
          </a:xfrm>
          <a:prstGeom prst="roundRect">
            <a:avLst>
              <a:gd fmla="val 5806" name="adj"/>
            </a:avLst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64d030cd0_0_160"/>
          <p:cNvSpPr/>
          <p:nvPr/>
        </p:nvSpPr>
        <p:spPr>
          <a:xfrm>
            <a:off x="886968" y="5449240"/>
            <a:ext cx="104241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결론  </a:t>
            </a:r>
            <a:r>
              <a:rPr lang="en-US" sz="1150">
                <a:solidFill>
                  <a:srgbClr val="DDE3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응답을 서로 다른 문맥에 배치해, 문장 자체가 아닌 문맥과 응답의 관계를 학습하도록 설계했습니다. </a:t>
            </a:r>
            <a:endParaRPr sz="1150">
              <a:solidFill>
                <a:srgbClr val="DDE3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7" name="Google Shape;397;g3f64d030cd0_0_160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짝 구조 — 같은 문장, 다른 방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66928" y="2331720"/>
            <a:ext cx="5029200" cy="3063240"/>
          </a:xfrm>
          <a:prstGeom prst="roundRect">
            <a:avLst>
              <a:gd fmla="val 268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66928" y="2331720"/>
            <a:ext cx="5029200" cy="512064"/>
          </a:xfrm>
          <a:prstGeom prst="roundRect">
            <a:avLst>
              <a:gd fmla="val 16071" name="adj"/>
            </a:avLst>
          </a:prstGeom>
          <a:solidFill>
            <a:srgbClr val="5A62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841248" y="2331720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대학 동기 단톡방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886968" y="3063240"/>
            <a:ext cx="3931920" cy="475488"/>
          </a:xfrm>
          <a:prstGeom prst="roundRect">
            <a:avLst>
              <a:gd fmla="val 19231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1069848" y="306324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드디어 끝났다!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886968" y="3666744"/>
            <a:ext cx="3931920" cy="475488"/>
          </a:xfrm>
          <a:prstGeom prst="roundRect">
            <a:avLst>
              <a:gd fmla="val 19231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069848" y="366674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다들 오늘 저녁 시간 돼?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664208" y="4434840"/>
            <a:ext cx="3611880" cy="475488"/>
          </a:xfrm>
          <a:prstGeom prst="roundRect">
            <a:avLst>
              <a:gd fmla="val 19231" name="adj"/>
            </a:avLst>
          </a:prstGeom>
          <a:solidFill>
            <a:srgbClr val="1E7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1664208" y="4434840"/>
            <a:ext cx="3611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저녁에 치킨 어때?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886968" y="4453128"/>
            <a:ext cx="640080" cy="438912"/>
          </a:xfrm>
          <a:prstGeom prst="roundRect">
            <a:avLst>
              <a:gd fmla="val 104167" name="adj"/>
            </a:avLst>
          </a:prstGeom>
          <a:solidFill>
            <a:srgbClr val="1E7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886968" y="4453128"/>
            <a:ext cx="640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886968" y="501091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5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1E7A45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그대로 전송됩니다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601968" y="2331720"/>
            <a:ext cx="5029200" cy="3063240"/>
          </a:xfrm>
          <a:prstGeom prst="roundRect">
            <a:avLst>
              <a:gd fmla="val 268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6601968" y="2331720"/>
            <a:ext cx="5029200" cy="512064"/>
          </a:xfrm>
          <a:prstGeom prst="roundRect">
            <a:avLst>
              <a:gd fmla="val 16071" name="adj"/>
            </a:avLst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6876288" y="2331720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개발팀 배포 채널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6922008" y="3063240"/>
            <a:ext cx="3931920" cy="475488"/>
          </a:xfrm>
          <a:prstGeom prst="roundRect">
            <a:avLst>
              <a:gd fmla="val 19231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104888" y="306324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내일 배포 리허설 몇 시로 할까요?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922008" y="3666744"/>
            <a:ext cx="3931920" cy="475488"/>
          </a:xfrm>
          <a:prstGeom prst="roundRect">
            <a:avLst>
              <a:gd fmla="val 19231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104888" y="366674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롤백 절차도 같이 봐주세요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7699248" y="4434840"/>
            <a:ext cx="3611880" cy="475488"/>
          </a:xfrm>
          <a:prstGeom prst="roundRect">
            <a:avLst>
              <a:gd fmla="val 1923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7699248" y="4434840"/>
            <a:ext cx="3611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저녁에 치킨 어때?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6922008" y="4453128"/>
            <a:ext cx="640080" cy="438912"/>
          </a:xfrm>
          <a:prstGeom prst="roundRect">
            <a:avLst>
              <a:gd fmla="val 1041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6922008" y="4453128"/>
            <a:ext cx="640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부적절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6922008" y="5010912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경고 팝업이 뜹니다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5596128" y="35433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3400"/>
              <a:buFont typeface="Malgun Gothic"/>
              <a:buNone/>
            </a:pPr>
            <a:r>
              <a:rPr b="0" i="0" lang="en-US" sz="34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데이터의 고유 응답 500개 전원이 이렇게 양쪽 라벨로 등장합니다.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0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세팅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66928" y="2286000"/>
            <a:ext cx="2560320" cy="1600200"/>
          </a:xfrm>
          <a:prstGeom prst="roundRect">
            <a:avLst>
              <a:gd fmla="val 5143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822960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MAX_LEN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786384" y="274320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384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 토큰 최대 117 — 전량 수용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401568" y="2286000"/>
            <a:ext cx="2560320" cy="1600200"/>
          </a:xfrm>
          <a:prstGeom prst="roundRect">
            <a:avLst>
              <a:gd fmla="val 5143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657600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621024" y="274320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657600" y="338328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T4 메모리 기준 현실적 상한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236208" y="2286000"/>
            <a:ext cx="2560320" cy="1600200"/>
          </a:xfrm>
          <a:prstGeom prst="roundRect">
            <a:avLst>
              <a:gd fmla="val 5143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492240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6455664" y="274320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5e-5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6492240" y="3383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BERT 파인튜닝 표준 범위 상단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070848" y="2286000"/>
            <a:ext cx="2560320" cy="1600200"/>
          </a:xfrm>
          <a:prstGeom prst="roundRect">
            <a:avLst>
              <a:gd fmla="val 5143" name="adj"/>
            </a:avLst>
          </a:prstGeom>
          <a:solidFill>
            <a:srgbClr val="E4EBF9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9326880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9290304" y="274320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9326880" y="3383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9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16 epoch 계측으로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566928" y="4114800"/>
            <a:ext cx="5440680" cy="2148840"/>
          </a:xfrm>
          <a:prstGeom prst="roundRect">
            <a:avLst>
              <a:gd fmla="val 3830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859536" y="427939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Loss · Optimizer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859536" y="468172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304288" y="46817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CrossEntropyLoss (num_labels=2)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859536" y="506577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2304288" y="50657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AdamW · weight_decay 0.01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859536" y="54498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Scheduler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2304288" y="544982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linear + warmup 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859536" y="583387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Grad clip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304288" y="58338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6190488" y="4114800"/>
            <a:ext cx="5440680" cy="2148840"/>
          </a:xfrm>
          <a:prstGeom prst="roundRect">
            <a:avLst>
              <a:gd fmla="val 3830" name="adj"/>
            </a:avLst>
          </a:prstGeom>
          <a:solidFill>
            <a:srgbClr val="2B3442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6483096" y="42793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1200"/>
              <a:buFont typeface="Malgun Gothic"/>
              <a:buNone/>
            </a:pPr>
            <a:r>
              <a:rPr b="1" i="0" lang="en-US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분할 전략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6483096" y="4572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StratifiedGroupKFold(5) · 그룹 = pair_id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6483096" y="502920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150"/>
              <a:buFont typeface="Malgun Gothic"/>
              <a:buNone/>
            </a:pPr>
            <a:r>
              <a:rPr b="0" i="0" lang="en-US" sz="1350" u="none" cap="none" strike="noStrike">
                <a:solidFill>
                  <a:srgbClr val="DDE3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짝이 학습과 검증에 갈라지지 않게 묶었습니다. 짝의 반쪽을 본 모델이 나머지 반쪽을 맞히면 점수가 부풀려지기 때문입니다.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1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64b3a9967_1_250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64b3a9967_1_250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64b3a9967_1_250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64b3a9967_1_250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64b3a9967_1_250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학습량(epoch) 결정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g3f64b3a9967_1_250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7" name="Google Shape;487;g3f64b3a9967_1_250" title="curve_loss (1).png"/>
          <p:cNvPicPr preferRelativeResize="0"/>
          <p:nvPr/>
        </p:nvPicPr>
        <p:blipFill rotWithShape="1">
          <a:blip r:embed="rId3">
            <a:alphaModFix/>
          </a:blip>
          <a:srcRect b="0" l="0" r="0" t="11832"/>
          <a:stretch/>
        </p:blipFill>
        <p:spPr>
          <a:xfrm>
            <a:off x="566925" y="2014550"/>
            <a:ext cx="6776974" cy="439975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f64b3a9967_1_250"/>
          <p:cNvSpPr/>
          <p:nvPr/>
        </p:nvSpPr>
        <p:spPr>
          <a:xfrm>
            <a:off x="7422950" y="2144275"/>
            <a:ext cx="4160400" cy="1733700"/>
          </a:xfrm>
          <a:prstGeom prst="roundRect">
            <a:avLst>
              <a:gd fmla="val 3830" name="adj"/>
            </a:avLst>
          </a:prstGeom>
          <a:solidFill>
            <a:srgbClr val="C9D3EA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64b3a9967_1_250"/>
          <p:cNvSpPr/>
          <p:nvPr/>
        </p:nvSpPr>
        <p:spPr>
          <a:xfrm>
            <a:off x="7633250" y="2331725"/>
            <a:ext cx="369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3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64b3a9967_1_250"/>
          <p:cNvSpPr/>
          <p:nvPr/>
        </p:nvSpPr>
        <p:spPr>
          <a:xfrm>
            <a:off x="7633250" y="2922575"/>
            <a:ext cx="37398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검증 epoch = 16</a:t>
            </a:r>
            <a:endParaRPr sz="1300">
              <a:solidFill>
                <a:srgbClr val="444B5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t/>
            </a:r>
            <a:endParaRPr sz="1300">
              <a:solidFill>
                <a:srgbClr val="444B5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step = 25</a:t>
            </a:r>
            <a:endParaRPr b="0" i="0" sz="1300" u="none" cap="none" strike="noStrike">
              <a:solidFill>
                <a:srgbClr val="444B5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1" name="Google Shape;491;g3f64b3a9967_1_250"/>
          <p:cNvSpPr/>
          <p:nvPr/>
        </p:nvSpPr>
        <p:spPr>
          <a:xfrm>
            <a:off x="7422938" y="3977640"/>
            <a:ext cx="4160400" cy="2148900"/>
          </a:xfrm>
          <a:prstGeom prst="roundRect">
            <a:avLst>
              <a:gd fmla="val 3830" name="adj"/>
            </a:avLst>
          </a:prstGeom>
          <a:solidFill>
            <a:srgbClr val="2B3442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64b3a9967_1_250"/>
          <p:cNvSpPr/>
          <p:nvPr/>
        </p:nvSpPr>
        <p:spPr>
          <a:xfrm>
            <a:off x="7715546" y="4160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64b3a9967_1_250"/>
          <p:cNvSpPr/>
          <p:nvPr/>
        </p:nvSpPr>
        <p:spPr>
          <a:xfrm>
            <a:off x="7715546" y="4434840"/>
            <a:ext cx="361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lgun Gothic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 4 선택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64b3a9967_1_250"/>
          <p:cNvSpPr/>
          <p:nvPr/>
        </p:nvSpPr>
        <p:spPr>
          <a:xfrm>
            <a:off x="7715546" y="5212080"/>
            <a:ext cx="361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DE3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loss 최저 = epoch 4 (0.358)</a:t>
            </a:r>
            <a:endParaRPr b="0" i="0" sz="1200" u="none" cap="none" strike="noStrike">
              <a:solidFill>
                <a:srgbClr val="DDE3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1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rgbClr val="DDE3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DE3F0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 4 이후 =&gt; 과적합으로 판단</a:t>
            </a:r>
            <a:endParaRPr b="0" i="0" sz="1200" u="none" cap="none" strike="noStrike">
              <a:solidFill>
                <a:srgbClr val="DDE3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64b3a9967_1_203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64b3a9967_1_203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64b3a9967_1_203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64b3a9967_1_203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64b3a9967_1_203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학습 평가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5" name="Google Shape;505;g3f64b3a9967_1_203"/>
          <p:cNvGrpSpPr/>
          <p:nvPr/>
        </p:nvGrpSpPr>
        <p:grpSpPr>
          <a:xfrm>
            <a:off x="906828" y="2379951"/>
            <a:ext cx="10378345" cy="3383406"/>
            <a:chOff x="566925" y="2331726"/>
            <a:chExt cx="10378345" cy="3383406"/>
          </a:xfrm>
        </p:grpSpPr>
        <p:sp>
          <p:nvSpPr>
            <p:cNvPr id="506" name="Google Shape;506;g3f64b3a9967_1_203"/>
            <p:cNvSpPr/>
            <p:nvPr/>
          </p:nvSpPr>
          <p:spPr>
            <a:xfrm>
              <a:off x="566925" y="2331726"/>
              <a:ext cx="3061800" cy="33834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DCE2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5400000" dist="38100">
                <a:srgbClr val="9AA6C4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f64b3a9967_1_203"/>
            <p:cNvSpPr/>
            <p:nvPr/>
          </p:nvSpPr>
          <p:spPr>
            <a:xfrm>
              <a:off x="841248" y="2587752"/>
              <a:ext cx="640200" cy="384000"/>
            </a:xfrm>
            <a:prstGeom prst="roundRect">
              <a:avLst>
                <a:gd fmla="val 119048" name="adj"/>
              </a:avLst>
            </a:prstGeom>
            <a:solidFill>
              <a:srgbClr val="3B5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f64b3a9967_1_203"/>
            <p:cNvSpPr/>
            <p:nvPr/>
          </p:nvSpPr>
          <p:spPr>
            <a:xfrm>
              <a:off x="841248" y="2587752"/>
              <a:ext cx="640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lgun Gothic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Q1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g3f64b3a9967_1_203"/>
            <p:cNvSpPr/>
            <p:nvPr/>
          </p:nvSpPr>
          <p:spPr>
            <a:xfrm>
              <a:off x="1618495" y="2587750"/>
              <a:ext cx="194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442"/>
                </a:buClr>
                <a:buSzPts val="1600"/>
                <a:buFont typeface="Malgun Gothic"/>
                <a:buNone/>
              </a:pPr>
              <a:r>
                <a:rPr b="1" i="0" lang="en-US" sz="1600" u="none" cap="none" strike="noStrike">
                  <a:solidFill>
                    <a:srgbClr val="2B3442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성능이 나오는가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g3f64b3a9967_1_203"/>
            <p:cNvSpPr/>
            <p:nvPr/>
          </p:nvSpPr>
          <p:spPr>
            <a:xfrm>
              <a:off x="859528" y="3118100"/>
              <a:ext cx="2540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B58"/>
                </a:buClr>
                <a:buSzPts val="1100"/>
                <a:buFont typeface="Malgun Gothic"/>
                <a:buNone/>
              </a:pPr>
              <a:r>
                <a:rPr b="0" i="0" lang="en-US" sz="1100" u="none" cap="none" strike="noStrike">
                  <a:solidFill>
                    <a:srgbClr val="444B5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5-fold 교차검증 OOF 정확도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g3f64b3a9967_1_203"/>
            <p:cNvSpPr/>
            <p:nvPr/>
          </p:nvSpPr>
          <p:spPr>
            <a:xfrm>
              <a:off x="1207008" y="4469453"/>
              <a:ext cx="2011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B5BDB"/>
                </a:buClr>
                <a:buSzPts val="2200"/>
                <a:buFont typeface="Malgun Gothic"/>
                <a:buNone/>
              </a:pPr>
              <a:r>
                <a:rPr b="1" i="0" lang="en-US" sz="2200" u="none" cap="none" strike="noStrike">
                  <a:solidFill>
                    <a:srgbClr val="3B5B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0.854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g3f64b3a9967_1_203"/>
            <p:cNvSpPr/>
            <p:nvPr/>
          </p:nvSpPr>
          <p:spPr>
            <a:xfrm>
              <a:off x="566928" y="5045525"/>
              <a:ext cx="2651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A93A3"/>
                </a:buClr>
                <a:buSzPts val="900"/>
                <a:buFont typeface="Malgun Gothic"/>
                <a:buNone/>
              </a:pPr>
              <a:r>
                <a:rPr b="0" i="0" lang="en-US" sz="900" u="none" cap="none" strike="noStrike">
                  <a:solidFill>
                    <a:srgbClr val="8A93A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기준: 찍기 수준 0.5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g3f64b3a9967_1_203"/>
            <p:cNvSpPr/>
            <p:nvPr/>
          </p:nvSpPr>
          <p:spPr>
            <a:xfrm>
              <a:off x="4225195" y="2331730"/>
              <a:ext cx="3061800" cy="3383400"/>
            </a:xfrm>
            <a:prstGeom prst="roundRect">
              <a:avLst>
                <a:gd fmla="val 4615" name="adj"/>
              </a:avLst>
            </a:prstGeom>
            <a:solidFill>
              <a:srgbClr val="2B3442"/>
            </a:solidFill>
            <a:ln>
              <a:noFill/>
            </a:ln>
            <a:effectLst>
              <a:outerShdw blurRad="88900" rotWithShape="0" algn="bl" dir="5400000" dist="38100">
                <a:srgbClr val="9AA6C4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f64b3a9967_1_203"/>
            <p:cNvSpPr/>
            <p:nvPr/>
          </p:nvSpPr>
          <p:spPr>
            <a:xfrm>
              <a:off x="4499508" y="2587752"/>
              <a:ext cx="640200" cy="384000"/>
            </a:xfrm>
            <a:prstGeom prst="roundRect">
              <a:avLst>
                <a:gd fmla="val 119048" name="adj"/>
              </a:avLst>
            </a:prstGeom>
            <a:solidFill>
              <a:srgbClr val="3B5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f64b3a9967_1_203"/>
            <p:cNvSpPr/>
            <p:nvPr/>
          </p:nvSpPr>
          <p:spPr>
            <a:xfrm>
              <a:off x="4499508" y="2587752"/>
              <a:ext cx="640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lgun Gothic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Q2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g3f64b3a9967_1_203"/>
            <p:cNvSpPr/>
            <p:nvPr/>
          </p:nvSpPr>
          <p:spPr>
            <a:xfrm>
              <a:off x="5276749" y="2587750"/>
              <a:ext cx="194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Malgun Gothic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문맥을 읽었는가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g3f64b3a9967_1_203"/>
            <p:cNvSpPr/>
            <p:nvPr/>
          </p:nvSpPr>
          <p:spPr>
            <a:xfrm>
              <a:off x="4517799" y="3118100"/>
              <a:ext cx="26517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Clr>
                  <a:srgbClr val="C9D3EA"/>
                </a:buClr>
                <a:buSzPts val="1100"/>
                <a:buFont typeface="Malgun Gothic"/>
                <a:buNone/>
              </a:pPr>
              <a:r>
                <a:rPr b="0" i="0" lang="en-US" sz="1100" u="none" cap="none" strike="noStrike">
                  <a:solidFill>
                    <a:srgbClr val="C9D3E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절제 실험 — 문맥 교체·삭제 후 재판정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g3f64b3a9967_1_203"/>
            <p:cNvSpPr/>
            <p:nvPr/>
          </p:nvSpPr>
          <p:spPr>
            <a:xfrm>
              <a:off x="4865268" y="4469453"/>
              <a:ext cx="2011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FB4F0"/>
                </a:buClr>
                <a:buSzPts val="2200"/>
                <a:buFont typeface="Malgun Gothic"/>
                <a:buNone/>
              </a:pPr>
              <a:r>
                <a:rPr b="1" i="0" lang="en-US" sz="2200" u="none" cap="none" strike="noStrike">
                  <a:solidFill>
                    <a:srgbClr val="9FB4F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−0.385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g3f64b3a9967_1_203"/>
            <p:cNvSpPr/>
            <p:nvPr/>
          </p:nvSpPr>
          <p:spPr>
            <a:xfrm>
              <a:off x="4225188" y="5045525"/>
              <a:ext cx="2651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EB8CC"/>
                </a:buClr>
                <a:buSzPts val="900"/>
                <a:buFont typeface="Malgun Gothic"/>
                <a:buNone/>
              </a:pPr>
              <a:r>
                <a:rPr b="0" i="0" lang="en-US" sz="900" u="none" cap="none" strike="noStrike">
                  <a:solidFill>
                    <a:srgbClr val="AEB8C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찍기 수준 아래로 무너짐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g3f64b3a9967_1_203"/>
            <p:cNvSpPr/>
            <p:nvPr/>
          </p:nvSpPr>
          <p:spPr>
            <a:xfrm>
              <a:off x="7883470" y="2331732"/>
              <a:ext cx="3061800" cy="33834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DCE2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5400000" dist="38100">
                <a:srgbClr val="9AA6C4">
                  <a:alpha val="2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f64b3a9967_1_203"/>
            <p:cNvSpPr/>
            <p:nvPr/>
          </p:nvSpPr>
          <p:spPr>
            <a:xfrm>
              <a:off x="8157783" y="2587749"/>
              <a:ext cx="640200" cy="384000"/>
            </a:xfrm>
            <a:prstGeom prst="roundRect">
              <a:avLst>
                <a:gd fmla="val 119048" name="adj"/>
              </a:avLst>
            </a:prstGeom>
            <a:solidFill>
              <a:srgbClr val="3B5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f64b3a9967_1_203"/>
            <p:cNvSpPr/>
            <p:nvPr/>
          </p:nvSpPr>
          <p:spPr>
            <a:xfrm>
              <a:off x="8157783" y="2587749"/>
              <a:ext cx="640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Malgun Gothic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Q3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3f64b3a9967_1_203"/>
            <p:cNvSpPr/>
            <p:nvPr/>
          </p:nvSpPr>
          <p:spPr>
            <a:xfrm>
              <a:off x="8935024" y="2587750"/>
              <a:ext cx="194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442"/>
                </a:buClr>
                <a:buSzPts val="1600"/>
                <a:buFont typeface="Malgun Gothic"/>
                <a:buNone/>
              </a:pPr>
              <a:r>
                <a:rPr b="1" i="0" lang="en-US" sz="1600" u="none" cap="none" strike="noStrike">
                  <a:solidFill>
                    <a:srgbClr val="2B3442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운영값은 어디인가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g3f64b3a9967_1_203"/>
            <p:cNvSpPr/>
            <p:nvPr/>
          </p:nvSpPr>
          <p:spPr>
            <a:xfrm>
              <a:off x="8176074" y="3118100"/>
              <a:ext cx="26517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Clr>
                  <a:srgbClr val="444B58"/>
                </a:buClr>
                <a:buSzPts val="1100"/>
                <a:buFont typeface="Malgun Gothic"/>
                <a:buNone/>
              </a:pPr>
              <a:r>
                <a:rPr b="0" i="0" lang="en-US" sz="1100" u="none" cap="none" strike="noStrike">
                  <a:solidFill>
                    <a:srgbClr val="444B5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threshold 스윕 — precision/recall/팝업률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3f64b3a9967_1_203"/>
            <p:cNvSpPr/>
            <p:nvPr/>
          </p:nvSpPr>
          <p:spPr>
            <a:xfrm>
              <a:off x="8523543" y="4469450"/>
              <a:ext cx="2011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B5BDB"/>
                </a:buClr>
                <a:buSzPts val="2200"/>
                <a:buFont typeface="Malgun Gothic"/>
                <a:buNone/>
              </a:pPr>
              <a:r>
                <a:rPr b="1" i="0" lang="en-US" sz="2200" u="none" cap="none" strike="noStrike">
                  <a:solidFill>
                    <a:srgbClr val="3B5BD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0.7 채택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g3f64b3a9967_1_203"/>
            <p:cNvSpPr/>
            <p:nvPr/>
          </p:nvSpPr>
          <p:spPr>
            <a:xfrm>
              <a:off x="7883463" y="5045522"/>
              <a:ext cx="26517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A93A3"/>
                </a:buClr>
                <a:buSzPts val="900"/>
                <a:buFont typeface="Malgun Gothic"/>
                <a:buNone/>
              </a:pPr>
              <a:r>
                <a:rPr b="0" i="0" lang="en-US" sz="900" u="none" cap="none" strike="noStrike">
                  <a:solidFill>
                    <a:srgbClr val="8A93A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F1 최대점 대신 precision 우선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27" name="Google Shape;527;g3f64b3a9967_1_203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3"/>
          <p:cNvSpPr/>
          <p:nvPr/>
        </p:nvSpPr>
        <p:spPr>
          <a:xfrm>
            <a:off x="7333500" y="2144275"/>
            <a:ext cx="4160400" cy="1655700"/>
          </a:xfrm>
          <a:prstGeom prst="roundRect">
            <a:avLst>
              <a:gd fmla="val 3830" name="adj"/>
            </a:avLst>
          </a:prstGeom>
          <a:solidFill>
            <a:srgbClr val="C9D3EA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절제 실험 — 문맥 의존성 검증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7543800" y="2331725"/>
            <a:ext cx="369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한 실험인가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7543800" y="2827825"/>
            <a:ext cx="37398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보낼 메시지는 하나도 바꾸지 않고, 앞 대화만 다른 방의 것으로 바꿔치기하거나 아예 지운 뒤 같은 모델로 다시 판정했습니다.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7333488" y="3977640"/>
            <a:ext cx="4160520" cy="2148840"/>
          </a:xfrm>
          <a:prstGeom prst="roundRect">
            <a:avLst>
              <a:gd fmla="val 3830" name="adj"/>
            </a:avLst>
          </a:prstGeom>
          <a:solidFill>
            <a:srgbClr val="2B3442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7626096" y="4160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7626096" y="4434840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문맥을 건드리면</a:t>
            </a: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찍기 수준으로 무너진다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7626096" y="5212080"/>
            <a:ext cx="3611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DDE3F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응답은 그대로인데 성능이 사라졌습니다. 모델이 말투가 아닌 대화 문맥을 근거로 판단했다는 증거입니다.        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3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6" name="Google Shape;546;p13" title="ablation_plai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199" y="2232574"/>
            <a:ext cx="6069650" cy="393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64b3a9967_1_129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64b3a9967_1_129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64b3a9967_1_129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64b3a9967_1_129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본론 · AI 모델링 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64b3a9967_1_129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기준선 대조와 운영 임계값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64b3a9967_1_129"/>
          <p:cNvSpPr/>
          <p:nvPr/>
        </p:nvSpPr>
        <p:spPr>
          <a:xfrm>
            <a:off x="6857800" y="2682450"/>
            <a:ext cx="443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임계값 — 0.7 채택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64b3a9967_1_129"/>
          <p:cNvSpPr/>
          <p:nvPr/>
        </p:nvSpPr>
        <p:spPr>
          <a:xfrm>
            <a:off x="6857800" y="3050775"/>
            <a:ext cx="4708500" cy="567000"/>
          </a:xfrm>
          <a:prstGeom prst="rect">
            <a:avLst/>
          </a:prstGeom>
          <a:solidFill>
            <a:srgbClr val="2B3442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64b3a9967_1_129"/>
          <p:cNvSpPr/>
          <p:nvPr/>
        </p:nvSpPr>
        <p:spPr>
          <a:xfrm>
            <a:off x="6959610" y="3050775"/>
            <a:ext cx="169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임계값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64b3a9967_1_129"/>
          <p:cNvSpPr/>
          <p:nvPr/>
        </p:nvSpPr>
        <p:spPr>
          <a:xfrm>
            <a:off x="8741288" y="305077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64b3a9967_1_129"/>
          <p:cNvSpPr/>
          <p:nvPr/>
        </p:nvSpPr>
        <p:spPr>
          <a:xfrm>
            <a:off x="9716969" y="305077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64b3a9967_1_129"/>
          <p:cNvSpPr/>
          <p:nvPr/>
        </p:nvSpPr>
        <p:spPr>
          <a:xfrm>
            <a:off x="10692650" y="305077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팝업률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64b3a9967_1_129"/>
          <p:cNvSpPr/>
          <p:nvPr/>
        </p:nvSpPr>
        <p:spPr>
          <a:xfrm>
            <a:off x="6857800" y="3617705"/>
            <a:ext cx="4708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f64b3a9967_1_129"/>
          <p:cNvSpPr/>
          <p:nvPr/>
        </p:nvSpPr>
        <p:spPr>
          <a:xfrm>
            <a:off x="6959610" y="3617705"/>
            <a:ext cx="169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0.50 (F1 최대)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64b3a9967_1_129"/>
          <p:cNvSpPr/>
          <p:nvPr/>
        </p:nvSpPr>
        <p:spPr>
          <a:xfrm>
            <a:off x="8741288" y="361770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64b3a9967_1_129"/>
          <p:cNvSpPr/>
          <p:nvPr/>
        </p:nvSpPr>
        <p:spPr>
          <a:xfrm>
            <a:off x="9716969" y="361770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64b3a9967_1_129"/>
          <p:cNvSpPr/>
          <p:nvPr/>
        </p:nvSpPr>
        <p:spPr>
          <a:xfrm>
            <a:off x="10692650" y="361770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64b3a9967_1_129"/>
          <p:cNvSpPr/>
          <p:nvPr/>
        </p:nvSpPr>
        <p:spPr>
          <a:xfrm>
            <a:off x="6857800" y="4184635"/>
            <a:ext cx="4708500" cy="567000"/>
          </a:xfrm>
          <a:prstGeom prst="rect">
            <a:avLst/>
          </a:prstGeom>
          <a:solidFill>
            <a:srgbClr val="E4EBF9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64b3a9967_1_129"/>
          <p:cNvSpPr/>
          <p:nvPr/>
        </p:nvSpPr>
        <p:spPr>
          <a:xfrm>
            <a:off x="6959610" y="4184635"/>
            <a:ext cx="169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0.70 (채택)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64b3a9967_1_129"/>
          <p:cNvSpPr/>
          <p:nvPr/>
        </p:nvSpPr>
        <p:spPr>
          <a:xfrm>
            <a:off x="8741288" y="418463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0.882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64b3a9967_1_129"/>
          <p:cNvSpPr/>
          <p:nvPr/>
        </p:nvSpPr>
        <p:spPr>
          <a:xfrm>
            <a:off x="9716969" y="418463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0.776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64b3a9967_1_129"/>
          <p:cNvSpPr/>
          <p:nvPr/>
        </p:nvSpPr>
        <p:spPr>
          <a:xfrm>
            <a:off x="10692650" y="4184635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64b3a9967_1_129"/>
          <p:cNvSpPr/>
          <p:nvPr/>
        </p:nvSpPr>
        <p:spPr>
          <a:xfrm>
            <a:off x="6857800" y="4751564"/>
            <a:ext cx="4708500" cy="56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64b3a9967_1_129"/>
          <p:cNvSpPr/>
          <p:nvPr/>
        </p:nvSpPr>
        <p:spPr>
          <a:xfrm>
            <a:off x="6959610" y="4751564"/>
            <a:ext cx="169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64b3a9967_1_129"/>
          <p:cNvSpPr/>
          <p:nvPr/>
        </p:nvSpPr>
        <p:spPr>
          <a:xfrm>
            <a:off x="8741288" y="4751564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64b3a9967_1_129"/>
          <p:cNvSpPr/>
          <p:nvPr/>
        </p:nvSpPr>
        <p:spPr>
          <a:xfrm>
            <a:off x="9716969" y="4751564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0.582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64b3a9967_1_129"/>
          <p:cNvSpPr/>
          <p:nvPr/>
        </p:nvSpPr>
        <p:spPr>
          <a:xfrm>
            <a:off x="10692650" y="4751564"/>
            <a:ext cx="890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0.316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g3f64b3a9967_1_129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9" name="Google Shape;579;g3f64b3a9967_1_129" title="threshold_sweep_plai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5" y="2628775"/>
            <a:ext cx="5928899" cy="33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"/>
          <p:cNvSpPr/>
          <p:nvPr/>
        </p:nvSpPr>
        <p:spPr>
          <a:xfrm>
            <a:off x="566928" y="310896"/>
            <a:ext cx="182880" cy="18288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822960" y="274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8424367" y="2743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566928" y="65836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결론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566928" y="932688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정리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566928" y="2286000"/>
            <a:ext cx="2574036" cy="1783080"/>
          </a:xfrm>
          <a:prstGeom prst="roundRect">
            <a:avLst>
              <a:gd fmla="val 461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658368" y="2542032"/>
            <a:ext cx="23911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0.854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658368" y="3218688"/>
            <a:ext cx="23911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 OOF 정확도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694944" y="3529584"/>
            <a:ext cx="23180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 기반 0.725 대비 +0.129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3396996" y="2286000"/>
            <a:ext cx="2574036" cy="1783080"/>
          </a:xfrm>
          <a:prstGeom prst="roundRect">
            <a:avLst>
              <a:gd fmla="val 4615" name="adj"/>
            </a:avLst>
          </a:prstGeom>
          <a:solidFill>
            <a:srgbClr val="2B3442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3488436" y="2542032"/>
            <a:ext cx="23911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−0.385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3488436" y="3218688"/>
            <a:ext cx="23911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 절제 시 하락폭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3525012" y="3529584"/>
            <a:ext cx="23180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AEB8CC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AEB8CC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문맥을 읽는다는 직접 증거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6227064" y="2286000"/>
            <a:ext cx="2574036" cy="1783080"/>
          </a:xfrm>
          <a:prstGeom prst="roundRect">
            <a:avLst>
              <a:gd fmla="val 461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318504" y="2542032"/>
            <a:ext cx="23911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538ms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6318504" y="3218688"/>
            <a:ext cx="23911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지연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6355080" y="3529584"/>
            <a:ext cx="23180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타임아웃 예산 4초의 13%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9057132" y="2286000"/>
            <a:ext cx="2574036" cy="1783080"/>
          </a:xfrm>
          <a:prstGeom prst="roundRect">
            <a:avLst>
              <a:gd fmla="val 461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9148572" y="2542032"/>
            <a:ext cx="23911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9148572" y="3218688"/>
            <a:ext cx="23911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전송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9185148" y="3529584"/>
            <a:ext cx="23180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대화가 서버 밖으로 안 나감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566928" y="4315968"/>
            <a:ext cx="2574036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795528" y="4498848"/>
            <a:ext cx="22082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5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E7A45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웹앱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795528" y="4864608"/>
            <a:ext cx="21625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회원·친구·방·실시간 전송 · 판정 팝업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3396996" y="4315968"/>
            <a:ext cx="2574036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3625596" y="4498848"/>
            <a:ext cx="22082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5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E7A45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3625596" y="4864608"/>
            <a:ext cx="21625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1,000 + 평가 100 · 누출 전 항목 통과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6227064" y="4315968"/>
            <a:ext cx="2574036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6455664" y="4498848"/>
            <a:ext cx="22082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5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E7A45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 모델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6455664" y="4864608"/>
            <a:ext cx="21625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A.X-Encoder · 백엔드 3종 교체 구조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9057132" y="4315968"/>
            <a:ext cx="2574036" cy="12344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9285732" y="4498848"/>
            <a:ext cx="22082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5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1E7A45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 </a:t>
            </a:r>
            <a:r>
              <a:rPr b="1" i="0" lang="en-US" sz="13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9285732" y="4864608"/>
            <a:ext cx="2162556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355 · 프론트 147 · 전부 통과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566928" y="58064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정확도·하락폭은 5-fold OOF 기준 · 지연은 단일 요청 순차 30회 실측 (배치 32 처리량 p50 512ms)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16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64d030cd0_0_4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64d030cd0_0_4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64d030cd0_0_4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</a:t>
            </a:r>
            <a:r>
              <a:rPr lang="en-US" sz="1050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64d030cd0_0_4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한계와 대응전략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64d030cd0_0_4"/>
          <p:cNvSpPr/>
          <p:nvPr/>
        </p:nvSpPr>
        <p:spPr>
          <a:xfrm>
            <a:off x="566928" y="2286000"/>
            <a:ext cx="35052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64d030cd0_0_4"/>
          <p:cNvSpPr/>
          <p:nvPr/>
        </p:nvSpPr>
        <p:spPr>
          <a:xfrm>
            <a:off x="841248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64d030cd0_0_4"/>
          <p:cNvSpPr/>
          <p:nvPr/>
        </p:nvSpPr>
        <p:spPr>
          <a:xfrm>
            <a:off x="841248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64d030cd0_0_4"/>
          <p:cNvSpPr/>
          <p:nvPr/>
        </p:nvSpPr>
        <p:spPr>
          <a:xfrm>
            <a:off x="1389888" y="2560320"/>
            <a:ext cx="2499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대화 보호 공백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f64d030cd0_0_4"/>
          <p:cNvSpPr/>
          <p:nvPr/>
        </p:nvSpPr>
        <p:spPr>
          <a:xfrm>
            <a:off x="841248" y="3154680"/>
            <a:ext cx="295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대화가 10개 이상 쌓여야 AI 검증이 시작되어, 신규 채팅방·새 프로젝트 초반에는 사전 경고를 제공하지 못합니다.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64d030cd0_0_4"/>
          <p:cNvSpPr/>
          <p:nvPr/>
        </p:nvSpPr>
        <p:spPr>
          <a:xfrm>
            <a:off x="841248" y="4251960"/>
            <a:ext cx="2956500" cy="658500"/>
          </a:xfrm>
          <a:prstGeom prst="roundRect">
            <a:avLst>
              <a:gd fmla="val 8333" name="adj"/>
            </a:avLst>
          </a:prstGeom>
          <a:solidFill>
            <a:srgbClr val="E4E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64d030cd0_0_4"/>
          <p:cNvSpPr/>
          <p:nvPr/>
        </p:nvSpPr>
        <p:spPr>
          <a:xfrm>
            <a:off x="1005840" y="4279392"/>
            <a:ext cx="2682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채널명·채팅방 목적·초기 안내 문구를 초기 문맥으로 활용해 판정 시작 시점을 앞당김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f64d030cd0_0_4"/>
          <p:cNvSpPr/>
          <p:nvPr/>
        </p:nvSpPr>
        <p:spPr>
          <a:xfrm>
            <a:off x="4346448" y="2286000"/>
            <a:ext cx="35052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64d030cd0_0_4"/>
          <p:cNvSpPr/>
          <p:nvPr/>
        </p:nvSpPr>
        <p:spPr>
          <a:xfrm>
            <a:off x="4620768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3f64d030cd0_0_4"/>
          <p:cNvSpPr/>
          <p:nvPr/>
        </p:nvSpPr>
        <p:spPr>
          <a:xfrm>
            <a:off x="4620768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64d030cd0_0_4"/>
          <p:cNvSpPr/>
          <p:nvPr/>
        </p:nvSpPr>
        <p:spPr>
          <a:xfrm>
            <a:off x="5169408" y="2560320"/>
            <a:ext cx="2499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문맥 탐지 한계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f64d030cd0_0_4"/>
          <p:cNvSpPr/>
          <p:nvPr/>
        </p:nvSpPr>
        <p:spPr>
          <a:xfrm>
            <a:off x="4620768" y="3154680"/>
            <a:ext cx="295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방에 보낼 법한 메시지는 탐지하지만, 같은 방 안에서 날짜·시간·대상·조건만 어긋나는 메시지는 판정하지 못합니다.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f64d030cd0_0_4"/>
          <p:cNvSpPr/>
          <p:nvPr/>
        </p:nvSpPr>
        <p:spPr>
          <a:xfrm>
            <a:off x="4620768" y="4251960"/>
            <a:ext cx="2956500" cy="658500"/>
          </a:xfrm>
          <a:prstGeom prst="roundRect">
            <a:avLst>
              <a:gd fmla="val 8333" name="adj"/>
            </a:avLst>
          </a:prstGeom>
          <a:solidFill>
            <a:srgbClr val="E4E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64d030cd0_0_4"/>
          <p:cNvSpPr/>
          <p:nvPr/>
        </p:nvSpPr>
        <p:spPr>
          <a:xfrm>
            <a:off x="4785360" y="4279392"/>
            <a:ext cx="2682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날짜·시간·인물·수량·조건 중 하나만 어긋난 데이터를 학습에 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f64d030cd0_0_4"/>
          <p:cNvSpPr/>
          <p:nvPr/>
        </p:nvSpPr>
        <p:spPr>
          <a:xfrm>
            <a:off x="8125968" y="2286000"/>
            <a:ext cx="3505200" cy="2834700"/>
          </a:xfrm>
          <a:prstGeom prst="roundRect">
            <a:avLst>
              <a:gd fmla="val 2903" name="adj"/>
            </a:avLst>
          </a:prstGeom>
          <a:solidFill>
            <a:srgbClr val="FFFFFF"/>
          </a:solidFill>
          <a:ln cap="flat" cmpd="sng" w="9525">
            <a:solidFill>
              <a:srgbClr val="DCE2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64d030cd0_0_4"/>
          <p:cNvSpPr/>
          <p:nvPr/>
        </p:nvSpPr>
        <p:spPr>
          <a:xfrm>
            <a:off x="8400288" y="2542032"/>
            <a:ext cx="420600" cy="4206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64d030cd0_0_4"/>
          <p:cNvSpPr/>
          <p:nvPr/>
        </p:nvSpPr>
        <p:spPr>
          <a:xfrm>
            <a:off x="8400288" y="2542032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64d030cd0_0_4"/>
          <p:cNvSpPr/>
          <p:nvPr/>
        </p:nvSpPr>
        <p:spPr>
          <a:xfrm>
            <a:off x="8948928" y="2560320"/>
            <a:ext cx="2499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 근거 설명 부족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64d030cd0_0_4"/>
          <p:cNvSpPr/>
          <p:nvPr/>
        </p:nvSpPr>
        <p:spPr>
          <a:xfrm>
            <a:off x="8400288" y="3154680"/>
            <a:ext cx="2956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현재는 “이 방에 맞지 않는 것 같습니다”라는 판정 결과만 제공하며, 어떤 내용이 앞선 대화와 충돌했는지는 설명하지 않습니다.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64d030cd0_0_4"/>
          <p:cNvSpPr/>
          <p:nvPr/>
        </p:nvSpPr>
        <p:spPr>
          <a:xfrm>
            <a:off x="8400288" y="4251960"/>
            <a:ext cx="2956500" cy="658500"/>
          </a:xfrm>
          <a:prstGeom prst="roundRect">
            <a:avLst>
              <a:gd fmla="val 8333" name="adj"/>
            </a:avLst>
          </a:prstGeom>
          <a:solidFill>
            <a:srgbClr val="E4E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64d030cd0_0_4"/>
          <p:cNvSpPr/>
          <p:nvPr/>
        </p:nvSpPr>
        <p:spPr>
          <a:xfrm>
            <a:off x="8564880" y="4279392"/>
            <a:ext cx="2682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 </a:t>
            </a:r>
            <a:r>
              <a:rPr b="0" i="0" lang="en-US" sz="10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경고 사유 유형과 관련 문맥을 함께 제시하고, 사용자의 선택을 판정 개선에 활용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64d030cd0_0_4"/>
          <p:cNvSpPr/>
          <p:nvPr/>
        </p:nvSpPr>
        <p:spPr>
          <a:xfrm>
            <a:off x="566928" y="534924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50"/>
              <a:buFont typeface="Malgun Gothic"/>
              <a:buNone/>
            </a:pPr>
            <a:r>
              <a:rPr b="0" i="1" lang="en-US" sz="115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 모두 단순한 모델 점수의 문제가 아니라, 현재 서비스를 실제로 운영할 때 발생하는 보호 공백입니다.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g3f64d030cd0_0_4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g3f64d030cd0_0_4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결론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64d030cd0_0_36"/>
          <p:cNvSpPr/>
          <p:nvPr/>
        </p:nvSpPr>
        <p:spPr>
          <a:xfrm>
            <a:off x="566928" y="310896"/>
            <a:ext cx="183000" cy="183000"/>
          </a:xfrm>
          <a:prstGeom prst="roundRect">
            <a:avLst>
              <a:gd fmla="val 20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64d030cd0_0_36"/>
          <p:cNvSpPr/>
          <p:nvPr/>
        </p:nvSpPr>
        <p:spPr>
          <a:xfrm>
            <a:off x="822960" y="2743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f64d030cd0_0_36"/>
          <p:cNvSpPr/>
          <p:nvPr/>
        </p:nvSpPr>
        <p:spPr>
          <a:xfrm>
            <a:off x="8424367" y="27432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8A93A3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f64d030cd0_0_36"/>
          <p:cNvSpPr/>
          <p:nvPr/>
        </p:nvSpPr>
        <p:spPr>
          <a:xfrm>
            <a:off x="566928" y="658368"/>
            <a:ext cx="10058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5BDB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B5BD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결론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f64d030cd0_0_36"/>
          <p:cNvSpPr/>
          <p:nvPr/>
        </p:nvSpPr>
        <p:spPr>
          <a:xfrm>
            <a:off x="566928" y="932688"/>
            <a:ext cx="11064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27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 계획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f64d030cd0_0_36"/>
          <p:cNvSpPr/>
          <p:nvPr/>
        </p:nvSpPr>
        <p:spPr>
          <a:xfrm>
            <a:off x="566928" y="2331720"/>
            <a:ext cx="5440800" cy="1691700"/>
          </a:xfrm>
          <a:prstGeom prst="roundRect">
            <a:avLst>
              <a:gd fmla="val 4865" name="adj"/>
            </a:avLst>
          </a:prstGeom>
          <a:solidFill>
            <a:srgbClr val="E4EBF9"/>
          </a:solidFill>
          <a:ln>
            <a:noFill/>
          </a:ln>
          <a:effectLst>
            <a:outerShdw blurRad="88900" rotWithShape="0" algn="bl" dir="5400000" dist="38100">
              <a:srgbClr val="9AA6C4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64d030cd0_0_36"/>
          <p:cNvSpPr/>
          <p:nvPr/>
        </p:nvSpPr>
        <p:spPr>
          <a:xfrm>
            <a:off x="841248" y="2569464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64d030cd0_0_36"/>
          <p:cNvSpPr/>
          <p:nvPr/>
        </p:nvSpPr>
        <p:spPr>
          <a:xfrm>
            <a:off x="841248" y="2569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64d030cd0_0_36"/>
          <p:cNvSpPr/>
          <p:nvPr/>
        </p:nvSpPr>
        <p:spPr>
          <a:xfrm>
            <a:off x="1481328" y="2551176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문맥 보완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f64d030cd0_0_36"/>
          <p:cNvSpPr/>
          <p:nvPr/>
        </p:nvSpPr>
        <p:spPr>
          <a:xfrm>
            <a:off x="4041648" y="2606040"/>
            <a:ext cx="1691700" cy="365700"/>
          </a:xfrm>
          <a:prstGeom prst="roundRect">
            <a:avLst>
              <a:gd fmla="val 125000" name="adj"/>
            </a:avLst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64d030cd0_0_36"/>
          <p:cNvSpPr/>
          <p:nvPr/>
        </p:nvSpPr>
        <p:spPr>
          <a:xfrm>
            <a:off x="4041648" y="260604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최우선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f64d030cd0_0_36"/>
          <p:cNvSpPr/>
          <p:nvPr/>
        </p:nvSpPr>
        <p:spPr>
          <a:xfrm>
            <a:off x="859536" y="3136392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채널명·채팅방 목적·초기 안내 문구를 문맥으로 활용해, 대화가 적은 구간에서도 판정할 수 있도록 개선합니다.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f64d030cd0_0_36"/>
          <p:cNvSpPr/>
          <p:nvPr/>
        </p:nvSpPr>
        <p:spPr>
          <a:xfrm>
            <a:off x="6190488" y="2331720"/>
            <a:ext cx="5440800" cy="1691700"/>
          </a:xfrm>
          <a:prstGeom prst="roundRect">
            <a:avLst>
              <a:gd fmla="val 486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64d030cd0_0_36"/>
          <p:cNvSpPr/>
          <p:nvPr/>
        </p:nvSpPr>
        <p:spPr>
          <a:xfrm>
            <a:off x="6464808" y="2569464"/>
            <a:ext cx="457200" cy="4572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64d030cd0_0_36"/>
          <p:cNvSpPr/>
          <p:nvPr/>
        </p:nvSpPr>
        <p:spPr>
          <a:xfrm>
            <a:off x="6464808" y="2569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f64d030cd0_0_36"/>
          <p:cNvSpPr/>
          <p:nvPr/>
        </p:nvSpPr>
        <p:spPr>
          <a:xfrm>
            <a:off x="7104888" y="2551176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문맥 데이터 확장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3f64d030cd0_0_36"/>
          <p:cNvSpPr/>
          <p:nvPr/>
        </p:nvSpPr>
        <p:spPr>
          <a:xfrm>
            <a:off x="9665208" y="2606040"/>
            <a:ext cx="1691700" cy="365700"/>
          </a:xfrm>
          <a:prstGeom prst="roundRect">
            <a:avLst>
              <a:gd fmla="val 125000" name="adj"/>
            </a:avLst>
          </a:prstGeom>
          <a:solidFill>
            <a:srgbClr val="AEB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64d030cd0_0_36"/>
          <p:cNvSpPr/>
          <p:nvPr/>
        </p:nvSpPr>
        <p:spPr>
          <a:xfrm>
            <a:off x="9665208" y="260604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f64d030cd0_0_36"/>
          <p:cNvSpPr/>
          <p:nvPr/>
        </p:nvSpPr>
        <p:spPr>
          <a:xfrm>
            <a:off x="6483096" y="3136392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날짜·시간·인물·수량·업무 조건 중 한 요소만 어긋난 Hard 데이터를 학습에 추가해 탐지 범위를 확장합니다.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f64d030cd0_0_36"/>
          <p:cNvSpPr/>
          <p:nvPr/>
        </p:nvSpPr>
        <p:spPr>
          <a:xfrm>
            <a:off x="566928" y="4160520"/>
            <a:ext cx="5440800" cy="1691700"/>
          </a:xfrm>
          <a:prstGeom prst="roundRect">
            <a:avLst>
              <a:gd fmla="val 486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f64d030cd0_0_36"/>
          <p:cNvSpPr/>
          <p:nvPr/>
        </p:nvSpPr>
        <p:spPr>
          <a:xfrm>
            <a:off x="841248" y="4398264"/>
            <a:ext cx="457200" cy="4572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f64d030cd0_0_36"/>
          <p:cNvSpPr/>
          <p:nvPr/>
        </p:nvSpPr>
        <p:spPr>
          <a:xfrm>
            <a:off x="841248" y="4398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f64d030cd0_0_36"/>
          <p:cNvSpPr/>
          <p:nvPr/>
        </p:nvSpPr>
        <p:spPr>
          <a:xfrm>
            <a:off x="1481328" y="4379976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근거가 보이는 경고 제공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f64d030cd0_0_36"/>
          <p:cNvSpPr/>
          <p:nvPr/>
        </p:nvSpPr>
        <p:spPr>
          <a:xfrm>
            <a:off x="4041648" y="4434840"/>
            <a:ext cx="1691700" cy="365700"/>
          </a:xfrm>
          <a:prstGeom prst="roundRect">
            <a:avLst>
              <a:gd fmla="val 125000" name="adj"/>
            </a:avLst>
          </a:prstGeom>
          <a:solidFill>
            <a:srgbClr val="AEB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f64d030cd0_0_36"/>
          <p:cNvSpPr/>
          <p:nvPr/>
        </p:nvSpPr>
        <p:spPr>
          <a:xfrm>
            <a:off x="4041648" y="443484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f64d030cd0_0_36"/>
          <p:cNvSpPr/>
          <p:nvPr/>
        </p:nvSpPr>
        <p:spPr>
          <a:xfrm>
            <a:off x="859536" y="4965192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적절·부적절 결과를 넘어, 경고 사유 유형과 관련된 이전 대화를 함께 제시합니다.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f64d030cd0_0_36"/>
          <p:cNvSpPr/>
          <p:nvPr/>
        </p:nvSpPr>
        <p:spPr>
          <a:xfrm>
            <a:off x="6190488" y="4160520"/>
            <a:ext cx="5440800" cy="1691700"/>
          </a:xfrm>
          <a:prstGeom prst="roundRect">
            <a:avLst>
              <a:gd fmla="val 4865" name="adj"/>
            </a:avLst>
          </a:prstGeom>
          <a:solidFill>
            <a:srgbClr val="EE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f64d030cd0_0_36"/>
          <p:cNvSpPr/>
          <p:nvPr/>
        </p:nvSpPr>
        <p:spPr>
          <a:xfrm>
            <a:off x="6464808" y="4398264"/>
            <a:ext cx="457200" cy="457200"/>
          </a:xfrm>
          <a:prstGeom prst="ellipse">
            <a:avLst/>
          </a:prstGeom>
          <a:solidFill>
            <a:srgbClr val="2B34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64d030cd0_0_36"/>
          <p:cNvSpPr/>
          <p:nvPr/>
        </p:nvSpPr>
        <p:spPr>
          <a:xfrm>
            <a:off x="6464808" y="4398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f64d030cd0_0_36"/>
          <p:cNvSpPr/>
          <p:nvPr/>
        </p:nvSpPr>
        <p:spPr>
          <a:xfrm>
            <a:off x="7104888" y="4379976"/>
            <a:ext cx="269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42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B344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검증 체계 구축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64d030cd0_0_36"/>
          <p:cNvSpPr/>
          <p:nvPr/>
        </p:nvSpPr>
        <p:spPr>
          <a:xfrm>
            <a:off x="9665208" y="4434840"/>
            <a:ext cx="1691700" cy="365700"/>
          </a:xfrm>
          <a:prstGeom prst="roundRect">
            <a:avLst>
              <a:gd fmla="val 125000" name="adj"/>
            </a:avLst>
          </a:prstGeom>
          <a:solidFill>
            <a:srgbClr val="AEB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f64d030cd0_0_36"/>
          <p:cNvSpPr/>
          <p:nvPr/>
        </p:nvSpPr>
        <p:spPr>
          <a:xfrm>
            <a:off x="9665208" y="443484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64d030cd0_0_36"/>
          <p:cNvSpPr/>
          <p:nvPr/>
        </p:nvSpPr>
        <p:spPr>
          <a:xfrm>
            <a:off x="6483096" y="4965192"/>
            <a:ext cx="4892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444B5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444B58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누적된 보내기·취소 선택을 분석해 실제 오발송 비율과 오탐 수준을 확인하고, 운영 환경에 맞게 임계값을 재조정합니다.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g3f64d030cd0_0_36"/>
          <p:cNvCxnSpPr/>
          <p:nvPr/>
        </p:nvCxnSpPr>
        <p:spPr>
          <a:xfrm>
            <a:off x="602150" y="1675075"/>
            <a:ext cx="10981200" cy="0"/>
          </a:xfrm>
          <a:prstGeom prst="straightConnector1">
            <a:avLst/>
          </a:prstGeom>
          <a:noFill/>
          <a:ln cap="flat" cmpd="sng" w="9525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0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8"/>
          <p:cNvSpPr/>
          <p:nvPr/>
        </p:nvSpPr>
        <p:spPr>
          <a:xfrm>
            <a:off x="11140135" y="0"/>
            <a:ext cx="1051560" cy="6858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566928" y="208325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F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9FB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566928" y="258617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Malgun Gothic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4AE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894AE"/>
                </a:solidFill>
                <a:latin typeface="Malgun Gothic"/>
                <a:ea typeface="Malgun Gothic"/>
                <a:cs typeface="Malgun Gothic"/>
                <a:sym typeface="Malgun Gothic"/>
              </a:rPr>
              <a:t>career-jikimi — 그 작은 실수로부터, 당신의 사회생활을 지켜드리겠습니다.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566925" y="4039850"/>
            <a:ext cx="430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팀장 김지환 - 프로젝트 총괄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팀원 김연희 - 데이터셋 생성 및 성능 검증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2026-08-03T14:29:51Z</dcterms:created>
  <dc:creator>김지환</dc:creator>
</cp:coreProperties>
</file>